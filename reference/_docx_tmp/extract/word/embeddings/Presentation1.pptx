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2" r:id="rId2"/>
  </p:sldMasterIdLst>
  <p:notesMasterIdLst>
    <p:notesMasterId r:id="rId6"/>
  </p:notesMasterIdLst>
  <p:sldIdLst>
    <p:sldId id="11090565" r:id="rId3"/>
    <p:sldId id="11090564" r:id="rId4"/>
    <p:sldId id="11090566" r:id="rId5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63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4224" userDrawn="1">
          <p15:clr>
            <a:srgbClr val="A4A3A4"/>
          </p15:clr>
        </p15:guide>
        <p15:guide id="6" orient="horz" pos="386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314507-5131-BF7E-367E-01E3257A405B}" name="Eve Zhao" initials="EZ" userId="9db9afb8f5dfcd8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44AFC4"/>
    <a:srgbClr val="F2F2F2"/>
    <a:srgbClr val="92ADDD"/>
    <a:srgbClr val="02234A"/>
    <a:srgbClr val="D9D9D9"/>
    <a:srgbClr val="FEFEFE"/>
    <a:srgbClr val="C73A12"/>
    <a:srgbClr val="DB3F16"/>
    <a:srgbClr val="2524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29" autoAdjust="0"/>
    <p:restoredTop sz="95659" autoAdjust="0"/>
  </p:normalViewPr>
  <p:slideViewPr>
    <p:cSldViewPr snapToGrid="0" snapToObjects="1">
      <p:cViewPr varScale="1">
        <p:scale>
          <a:sx n="107" d="100"/>
          <a:sy n="107" d="100"/>
        </p:scale>
        <p:origin x="90" y="96"/>
      </p:cViewPr>
      <p:guideLst>
        <p:guide pos="416"/>
        <p:guide pos="7256"/>
        <p:guide orient="horz" pos="663"/>
        <p:guide orient="horz" pos="712"/>
        <p:guide orient="horz" pos="4224"/>
        <p:guide orient="horz" pos="38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tags" Target="tags/tag1.xml"/><Relationship Id="rId12" Type="http://schemas.microsoft.com/office/2018/10/relationships/authors" Target="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756267-D3CB-485C-9D7C-C7414D20D71C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87BF3-D356-4F05-806B-2524C10B31F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516ECE-69C1-094E-BB49-19C487D30D51}" type="datetimeFigureOut">
              <a:rPr lang="zh-CN" altLang="en-US"/>
              <a:t>2024/3/18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206544-6BFC-154F-80E8-539BA3E8C2BC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1" y="1828800"/>
            <a:ext cx="12191999" cy="50292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302387" y="381286"/>
            <a:ext cx="636959" cy="403739"/>
            <a:chOff x="210924" y="302843"/>
            <a:chExt cx="832455" cy="527655"/>
          </a:xfrm>
        </p:grpSpPr>
        <p:sp>
          <p:nvSpPr>
            <p:cNvPr id="16" name="圆角矩形 1"/>
            <p:cNvSpPr/>
            <p:nvPr/>
          </p:nvSpPr>
          <p:spPr>
            <a:xfrm rot="2700000">
              <a:off x="210924" y="302843"/>
              <a:ext cx="527655" cy="52765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圆角矩形 2"/>
            <p:cNvSpPr/>
            <p:nvPr/>
          </p:nvSpPr>
          <p:spPr>
            <a:xfrm rot="2700000">
              <a:off x="515724" y="302843"/>
              <a:ext cx="527655" cy="527655"/>
            </a:xfrm>
            <a:prstGeom prst="round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圆角矩形 3"/>
            <p:cNvSpPr/>
            <p:nvPr/>
          </p:nvSpPr>
          <p:spPr>
            <a:xfrm rot="2700000">
              <a:off x="354738" y="302843"/>
              <a:ext cx="527655" cy="527655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037" y="491344"/>
            <a:ext cx="292518" cy="183621"/>
          </a:xfrm>
          <a:prstGeom prst="rect">
            <a:avLst/>
          </a:prstGeom>
        </p:spPr>
      </p:pic>
      <p:sp>
        <p:nvSpPr>
          <p:cNvPr id="20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146144" y="353978"/>
            <a:ext cx="10515600" cy="45835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dirty="0" err="1"/>
              <a:t>标题文本</a:t>
            </a:r>
            <a:endParaRPr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AE30448-6F77-2E5B-CDAA-DF28FBDB8653}"/>
              </a:ext>
            </a:extLst>
          </p:cNvPr>
          <p:cNvSpPr txBox="1"/>
          <p:nvPr userDrawn="1"/>
        </p:nvSpPr>
        <p:spPr>
          <a:xfrm>
            <a:off x="8489423" y="6537670"/>
            <a:ext cx="43287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b="0" i="0">
                <a:solidFill>
                  <a:schemeClr val="bg1">
                    <a:lumMod val="65000"/>
                  </a:schemeClr>
                </a:solidFill>
                <a:effectLst/>
                <a:latin typeface="SF Pro SC"/>
              </a:rPr>
              <a:t>Copyright © 2023 Weltown. All rights reserved. </a:t>
            </a:r>
            <a:endParaRPr kumimoji="1" lang="zh-CN" altLang="en-US" sz="120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 userDrawn="1"/>
        </p:nvGrpSpPr>
        <p:grpSpPr>
          <a:xfrm>
            <a:off x="302387" y="381286"/>
            <a:ext cx="636959" cy="403739"/>
            <a:chOff x="210924" y="302843"/>
            <a:chExt cx="832455" cy="527655"/>
          </a:xfrm>
        </p:grpSpPr>
        <p:sp>
          <p:nvSpPr>
            <p:cNvPr id="16" name="圆角矩形 1"/>
            <p:cNvSpPr/>
            <p:nvPr/>
          </p:nvSpPr>
          <p:spPr>
            <a:xfrm rot="2700000">
              <a:off x="210924" y="302843"/>
              <a:ext cx="527655" cy="52765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圆角矩形 2"/>
            <p:cNvSpPr/>
            <p:nvPr/>
          </p:nvSpPr>
          <p:spPr>
            <a:xfrm rot="2700000">
              <a:off x="515724" y="302843"/>
              <a:ext cx="527655" cy="527655"/>
            </a:xfrm>
            <a:prstGeom prst="round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圆角矩形 3"/>
            <p:cNvSpPr/>
            <p:nvPr/>
          </p:nvSpPr>
          <p:spPr>
            <a:xfrm rot="2700000">
              <a:off x="354738" y="302843"/>
              <a:ext cx="527655" cy="527655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037" y="491344"/>
            <a:ext cx="292518" cy="183621"/>
          </a:xfrm>
          <a:prstGeom prst="rect">
            <a:avLst/>
          </a:prstGeom>
        </p:spPr>
      </p:pic>
      <p:sp>
        <p:nvSpPr>
          <p:cNvPr id="20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146144" y="353978"/>
            <a:ext cx="10515600" cy="45835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dirty="0" err="1"/>
              <a:t>标题文本</a:t>
            </a:r>
            <a:endParaRPr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AE30448-6F77-2E5B-CDAA-DF28FBDB8653}"/>
              </a:ext>
            </a:extLst>
          </p:cNvPr>
          <p:cNvSpPr txBox="1"/>
          <p:nvPr userDrawn="1"/>
        </p:nvSpPr>
        <p:spPr>
          <a:xfrm>
            <a:off x="8489423" y="6537670"/>
            <a:ext cx="43287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b="0" i="0">
                <a:solidFill>
                  <a:schemeClr val="bg1">
                    <a:lumMod val="65000"/>
                  </a:schemeClr>
                </a:solidFill>
                <a:effectLst/>
                <a:latin typeface="SF Pro SC"/>
              </a:rPr>
              <a:t>Copyright © 2023 Weltown. All rights reserved. </a:t>
            </a:r>
            <a:endParaRPr kumimoji="1" lang="zh-CN" altLang="en-US" sz="120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067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7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1"/>
          <p:cNvSpPr/>
          <p:nvPr userDrawn="1"/>
        </p:nvSpPr>
        <p:spPr>
          <a:xfrm rot="2700000">
            <a:off x="2634280" y="-32720"/>
            <a:ext cx="6923441" cy="692344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5" name="圆角矩形 14"/>
          <p:cNvSpPr/>
          <p:nvPr userDrawn="1"/>
        </p:nvSpPr>
        <p:spPr>
          <a:xfrm rot="2700000">
            <a:off x="8266015" y="723000"/>
            <a:ext cx="796263" cy="79626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6" name="圆角矩形 1"/>
          <p:cNvSpPr/>
          <p:nvPr userDrawn="1"/>
        </p:nvSpPr>
        <p:spPr>
          <a:xfrm rot="2700000">
            <a:off x="711477" y="4566953"/>
            <a:ext cx="3435315" cy="3435315"/>
          </a:xfrm>
          <a:prstGeom prst="roundRect">
            <a:avLst/>
          </a:prstGeom>
          <a:noFill/>
          <a:ln w="1270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85">
            <a:extLst>
              <a:ext uri="{FF2B5EF4-FFF2-40B4-BE49-F238E27FC236}">
                <a16:creationId xmlns:a16="http://schemas.microsoft.com/office/drawing/2014/main" id="{8D5130C1-CF0B-4385-0989-A3E08B61B714}"/>
              </a:ext>
            </a:extLst>
          </p:cNvPr>
          <p:cNvSpPr/>
          <p:nvPr/>
        </p:nvSpPr>
        <p:spPr>
          <a:xfrm>
            <a:off x="2054156" y="1233762"/>
            <a:ext cx="4873503" cy="670166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Rectangle 62">
            <a:extLst>
              <a:ext uri="{FF2B5EF4-FFF2-40B4-BE49-F238E27FC236}">
                <a16:creationId xmlns:a16="http://schemas.microsoft.com/office/drawing/2014/main" id="{818CDFD8-356D-6213-BA9F-8AEB34F9CCEF}"/>
              </a:ext>
            </a:extLst>
          </p:cNvPr>
          <p:cNvSpPr/>
          <p:nvPr/>
        </p:nvSpPr>
        <p:spPr>
          <a:xfrm>
            <a:off x="2074556" y="5450419"/>
            <a:ext cx="2265832" cy="333599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ERP</a:t>
            </a:r>
          </a:p>
        </p:txBody>
      </p:sp>
      <p:sp>
        <p:nvSpPr>
          <p:cNvPr id="4" name="Rectangle 62">
            <a:extLst>
              <a:ext uri="{FF2B5EF4-FFF2-40B4-BE49-F238E27FC236}">
                <a16:creationId xmlns:a16="http://schemas.microsoft.com/office/drawing/2014/main" id="{AFCD9C6E-E19D-EFA5-5B2D-7806A7B5DB85}"/>
              </a:ext>
            </a:extLst>
          </p:cNvPr>
          <p:cNvSpPr/>
          <p:nvPr/>
        </p:nvSpPr>
        <p:spPr>
          <a:xfrm>
            <a:off x="418034" y="2925412"/>
            <a:ext cx="905028" cy="937625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POS</a:t>
            </a:r>
          </a:p>
          <a:p>
            <a:pPr algn="ctr"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现金</a:t>
            </a:r>
            <a:endParaRPr lang="en-US" sz="1050" b="1" dirty="0">
              <a:solidFill>
                <a:schemeClr val="tx1"/>
              </a:solidFill>
              <a:latin typeface="Graphik"/>
              <a:ea typeface="等线" panose="02010600030101010101" pitchFamily="2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支付宝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微信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银联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5FE90F59-9178-DA54-FAAC-70B500DBCBD1}"/>
              </a:ext>
            </a:extLst>
          </p:cNvPr>
          <p:cNvSpPr/>
          <p:nvPr/>
        </p:nvSpPr>
        <p:spPr>
          <a:xfrm>
            <a:off x="2074554" y="4604882"/>
            <a:ext cx="1391215" cy="335513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Graphik"/>
                <a:ea typeface="等线" panose="02010600030101010101" pitchFamily="2" charset="-122"/>
              </a:rPr>
              <a:t>OMS</a:t>
            </a:r>
          </a:p>
        </p:txBody>
      </p:sp>
      <p:sp>
        <p:nvSpPr>
          <p:cNvPr id="6" name="Rectangle 37">
            <a:extLst>
              <a:ext uri="{FF2B5EF4-FFF2-40B4-BE49-F238E27FC236}">
                <a16:creationId xmlns:a16="http://schemas.microsoft.com/office/drawing/2014/main" id="{57715577-8C00-0B08-6AF1-795128439847}"/>
              </a:ext>
            </a:extLst>
          </p:cNvPr>
          <p:cNvSpPr>
            <a:spLocks/>
          </p:cNvSpPr>
          <p:nvPr/>
        </p:nvSpPr>
        <p:spPr>
          <a:xfrm>
            <a:off x="3846333" y="1321441"/>
            <a:ext cx="1280256" cy="504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b="1" dirty="0">
                <a:solidFill>
                  <a:srgbClr val="000000"/>
                </a:solidFill>
                <a:latin typeface="Graphik"/>
                <a:ea typeface="等线" panose="02010600030101010101" pitchFamily="2" charset="-122"/>
              </a:rPr>
              <a:t>三方</a:t>
            </a:r>
            <a:r>
              <a:rPr lang="zh-CN" altLang="en-US" sz="1000" b="1">
                <a:solidFill>
                  <a:srgbClr val="000000"/>
                </a:solidFill>
                <a:latin typeface="Graphik"/>
                <a:ea typeface="等线" panose="02010600030101010101" pitchFamily="2" charset="-122"/>
              </a:rPr>
              <a:t>电商</a:t>
            </a: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(</a:t>
            </a:r>
            <a:r>
              <a:rPr lang="zh-CN" altLang="en-US" sz="1000" b="1" dirty="0">
                <a:solidFill>
                  <a:srgbClr val="000000"/>
                </a:solidFill>
                <a:latin typeface="Graphik"/>
                <a:ea typeface="等线" panose="02010600030101010101" pitchFamily="2" charset="-122"/>
              </a:rPr>
              <a:t>抖音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)</a:t>
            </a:r>
          </a:p>
        </p:txBody>
      </p:sp>
      <p:sp>
        <p:nvSpPr>
          <p:cNvPr id="7" name="Rectangle 39">
            <a:extLst>
              <a:ext uri="{FF2B5EF4-FFF2-40B4-BE49-F238E27FC236}">
                <a16:creationId xmlns:a16="http://schemas.microsoft.com/office/drawing/2014/main" id="{2DCD963A-8182-94AA-BCF6-AC5C7EC0BD57}"/>
              </a:ext>
            </a:extLst>
          </p:cNvPr>
          <p:cNvSpPr>
            <a:spLocks/>
          </p:cNvSpPr>
          <p:nvPr/>
        </p:nvSpPr>
        <p:spPr>
          <a:xfrm>
            <a:off x="2252945" y="1307309"/>
            <a:ext cx="1280256" cy="504000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b="1" dirty="0">
                <a:solidFill>
                  <a:srgbClr val="000000"/>
                </a:solidFill>
                <a:latin typeface="Graphik"/>
                <a:ea typeface="等线" panose="02010600030101010101" pitchFamily="2" charset="-122"/>
              </a:rPr>
              <a:t>官方自营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(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商城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)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960000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8" name="Straight Connector 115">
            <a:extLst>
              <a:ext uri="{FF2B5EF4-FFF2-40B4-BE49-F238E27FC236}">
                <a16:creationId xmlns:a16="http://schemas.microsoft.com/office/drawing/2014/main" id="{7D9C120F-D2E5-CF37-00B8-70EAA7AF6D78}"/>
              </a:ext>
            </a:extLst>
          </p:cNvPr>
          <p:cNvCxnSpPr>
            <a:cxnSpLocks/>
          </p:cNvCxnSpPr>
          <p:nvPr/>
        </p:nvCxnSpPr>
        <p:spPr>
          <a:xfrm rot="10800000">
            <a:off x="2833569" y="5000686"/>
            <a:ext cx="0" cy="46800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0">
            <a:extLst>
              <a:ext uri="{FF2B5EF4-FFF2-40B4-BE49-F238E27FC236}">
                <a16:creationId xmlns:a16="http://schemas.microsoft.com/office/drawing/2014/main" id="{C59DCF83-32F9-6AE0-8FE9-56692DC4F592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6085152" y="1819507"/>
            <a:ext cx="390" cy="444619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89">
            <a:extLst>
              <a:ext uri="{FF2B5EF4-FFF2-40B4-BE49-F238E27FC236}">
                <a16:creationId xmlns:a16="http://schemas.microsoft.com/office/drawing/2014/main" id="{30AA1F54-CD91-F8AF-743D-4BA22BED79ED}"/>
              </a:ext>
            </a:extLst>
          </p:cNvPr>
          <p:cNvCxnSpPr>
            <a:cxnSpLocks/>
            <a:stCxn id="29" idx="0"/>
            <a:endCxn id="6" idx="2"/>
          </p:cNvCxnSpPr>
          <p:nvPr/>
        </p:nvCxnSpPr>
        <p:spPr>
          <a:xfrm flipH="1" flipV="1">
            <a:off x="4486461" y="1825441"/>
            <a:ext cx="8190" cy="474325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91">
            <a:extLst>
              <a:ext uri="{FF2B5EF4-FFF2-40B4-BE49-F238E27FC236}">
                <a16:creationId xmlns:a16="http://schemas.microsoft.com/office/drawing/2014/main" id="{B9112B0F-DC90-A6E9-CE99-A97188F406F0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2893073" y="1811309"/>
            <a:ext cx="2497" cy="449485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59">
            <a:extLst>
              <a:ext uri="{FF2B5EF4-FFF2-40B4-BE49-F238E27FC236}">
                <a16:creationId xmlns:a16="http://schemas.microsoft.com/office/drawing/2014/main" id="{14282892-BF97-EE97-CAA0-24CFF68F1953}"/>
              </a:ext>
            </a:extLst>
          </p:cNvPr>
          <p:cNvSpPr txBox="1"/>
          <p:nvPr/>
        </p:nvSpPr>
        <p:spPr>
          <a:xfrm>
            <a:off x="2621533" y="5090060"/>
            <a:ext cx="382298" cy="2830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 err="1">
                <a:solidFill>
                  <a:srgbClr val="000000"/>
                </a:solidFill>
                <a:latin typeface="Graphik"/>
              </a:rPr>
              <a:t>订单</a:t>
            </a:r>
            <a:r>
              <a:rPr lang="en-US" altLang="zh-CN" sz="700" dirty="0">
                <a:solidFill>
                  <a:srgbClr val="000000"/>
                </a:solidFill>
                <a:latin typeface="Graphik"/>
              </a:rPr>
              <a:t>&amp;</a:t>
            </a:r>
            <a:endParaRPr lang="en-US" sz="700" dirty="0">
              <a:solidFill>
                <a:srgbClr val="000000"/>
              </a:solidFill>
              <a:latin typeface="Graphik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交易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3" name="Rectangle 75">
            <a:extLst>
              <a:ext uri="{FF2B5EF4-FFF2-40B4-BE49-F238E27FC236}">
                <a16:creationId xmlns:a16="http://schemas.microsoft.com/office/drawing/2014/main" id="{774160A9-0A74-ECCF-8A17-81EFF1544044}"/>
              </a:ext>
            </a:extLst>
          </p:cNvPr>
          <p:cNvSpPr>
            <a:spLocks/>
          </p:cNvSpPr>
          <p:nvPr/>
        </p:nvSpPr>
        <p:spPr>
          <a:xfrm>
            <a:off x="5445414" y="1315507"/>
            <a:ext cx="1280256" cy="504000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sz="1000" b="1" dirty="0">
                <a:solidFill>
                  <a:srgbClr val="000000"/>
                </a:solidFill>
                <a:latin typeface="Graphik"/>
                <a:ea typeface="等线" panose="02010600030101010101" pitchFamily="2" charset="-122"/>
              </a:rPr>
              <a:t>即时零售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(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京东到家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)</a:t>
            </a:r>
          </a:p>
        </p:txBody>
      </p:sp>
      <p:sp>
        <p:nvSpPr>
          <p:cNvPr id="14" name="TextBox 159">
            <a:extLst>
              <a:ext uri="{FF2B5EF4-FFF2-40B4-BE49-F238E27FC236}">
                <a16:creationId xmlns:a16="http://schemas.microsoft.com/office/drawing/2014/main" id="{26CF2895-0830-E158-9112-795A05E72BD2}"/>
              </a:ext>
            </a:extLst>
          </p:cNvPr>
          <p:cNvSpPr txBox="1"/>
          <p:nvPr/>
        </p:nvSpPr>
        <p:spPr>
          <a:xfrm>
            <a:off x="5809929" y="1966810"/>
            <a:ext cx="497150" cy="1842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订单下载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5" name="TextBox 159">
            <a:extLst>
              <a:ext uri="{FF2B5EF4-FFF2-40B4-BE49-F238E27FC236}">
                <a16:creationId xmlns:a16="http://schemas.microsoft.com/office/drawing/2014/main" id="{B4FFF8E0-1963-D5B3-3F72-470D4CD3AA08}"/>
              </a:ext>
            </a:extLst>
          </p:cNvPr>
          <p:cNvSpPr txBox="1"/>
          <p:nvPr/>
        </p:nvSpPr>
        <p:spPr>
          <a:xfrm>
            <a:off x="4165139" y="1961829"/>
            <a:ext cx="551049" cy="186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订单下载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6" name="TextBox 159">
            <a:extLst>
              <a:ext uri="{FF2B5EF4-FFF2-40B4-BE49-F238E27FC236}">
                <a16:creationId xmlns:a16="http://schemas.microsoft.com/office/drawing/2014/main" id="{B447372B-339B-87C3-06F7-0165FF9F2CA6}"/>
              </a:ext>
            </a:extLst>
          </p:cNvPr>
          <p:cNvSpPr txBox="1"/>
          <p:nvPr/>
        </p:nvSpPr>
        <p:spPr>
          <a:xfrm>
            <a:off x="2621533" y="1966204"/>
            <a:ext cx="551049" cy="186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订单同步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7" name="Rectangle 62">
            <a:extLst>
              <a:ext uri="{FF2B5EF4-FFF2-40B4-BE49-F238E27FC236}">
                <a16:creationId xmlns:a16="http://schemas.microsoft.com/office/drawing/2014/main" id="{09C79017-19E2-463F-D888-2B74847CB731}"/>
              </a:ext>
            </a:extLst>
          </p:cNvPr>
          <p:cNvSpPr/>
          <p:nvPr/>
        </p:nvSpPr>
        <p:spPr>
          <a:xfrm>
            <a:off x="4263684" y="4689395"/>
            <a:ext cx="1300225" cy="251000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IAM</a:t>
            </a:r>
          </a:p>
        </p:txBody>
      </p:sp>
      <p:cxnSp>
        <p:nvCxnSpPr>
          <p:cNvPr id="18" name="Straight Connector 80">
            <a:extLst>
              <a:ext uri="{FF2B5EF4-FFF2-40B4-BE49-F238E27FC236}">
                <a16:creationId xmlns:a16="http://schemas.microsoft.com/office/drawing/2014/main" id="{0CB6DB31-4C99-E192-1AAF-4E69F3447084}"/>
              </a:ext>
            </a:extLst>
          </p:cNvPr>
          <p:cNvCxnSpPr>
            <a:cxnSpLocks/>
          </p:cNvCxnSpPr>
          <p:nvPr/>
        </p:nvCxnSpPr>
        <p:spPr>
          <a:xfrm>
            <a:off x="3850638" y="4232346"/>
            <a:ext cx="0" cy="121079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59">
            <a:extLst>
              <a:ext uri="{FF2B5EF4-FFF2-40B4-BE49-F238E27FC236}">
                <a16:creationId xmlns:a16="http://schemas.microsoft.com/office/drawing/2014/main" id="{000DCC4C-D33A-C6A3-F61A-BB72CC92E20E}"/>
              </a:ext>
            </a:extLst>
          </p:cNvPr>
          <p:cNvSpPr txBox="1"/>
          <p:nvPr/>
        </p:nvSpPr>
        <p:spPr>
          <a:xfrm>
            <a:off x="3623049" y="4744502"/>
            <a:ext cx="494861" cy="3149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库存同步</a:t>
            </a:r>
            <a:endParaRPr lang="en-US" sz="700" dirty="0">
              <a:solidFill>
                <a:srgbClr val="000000"/>
              </a:solidFill>
              <a:latin typeface="Graphik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商品同步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20" name="Straight Connector 96">
            <a:extLst>
              <a:ext uri="{FF2B5EF4-FFF2-40B4-BE49-F238E27FC236}">
                <a16:creationId xmlns:a16="http://schemas.microsoft.com/office/drawing/2014/main" id="{40BC6EA0-1CA0-8B48-6B45-4D5C973773A4}"/>
              </a:ext>
            </a:extLst>
          </p:cNvPr>
          <p:cNvCxnSpPr>
            <a:cxnSpLocks/>
          </p:cNvCxnSpPr>
          <p:nvPr/>
        </p:nvCxnSpPr>
        <p:spPr>
          <a:xfrm flipH="1">
            <a:off x="4905290" y="4235374"/>
            <a:ext cx="1001" cy="418379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91">
            <a:extLst>
              <a:ext uri="{FF2B5EF4-FFF2-40B4-BE49-F238E27FC236}">
                <a16:creationId xmlns:a16="http://schemas.microsoft.com/office/drawing/2014/main" id="{ADDB3BE5-C50B-AB94-651C-236BBA6A1E42}"/>
              </a:ext>
            </a:extLst>
          </p:cNvPr>
          <p:cNvCxnSpPr>
            <a:cxnSpLocks/>
          </p:cNvCxnSpPr>
          <p:nvPr/>
        </p:nvCxnSpPr>
        <p:spPr>
          <a:xfrm flipV="1">
            <a:off x="2514999" y="4235374"/>
            <a:ext cx="0" cy="335512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98">
            <a:extLst>
              <a:ext uri="{FF2B5EF4-FFF2-40B4-BE49-F238E27FC236}">
                <a16:creationId xmlns:a16="http://schemas.microsoft.com/office/drawing/2014/main" id="{107DB5C3-A426-95F2-3BAE-1CEC7EA2F9BE}"/>
              </a:ext>
            </a:extLst>
          </p:cNvPr>
          <p:cNvSpPr txBox="1"/>
          <p:nvPr/>
        </p:nvSpPr>
        <p:spPr>
          <a:xfrm>
            <a:off x="2094011" y="4289672"/>
            <a:ext cx="841976" cy="19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 err="1">
                <a:solidFill>
                  <a:srgbClr val="000000"/>
                </a:solidFill>
                <a:latin typeface="Graphik"/>
              </a:rPr>
              <a:t>订单</a:t>
            </a:r>
            <a:r>
              <a:rPr lang="en-US" altLang="zh-CN" sz="800" dirty="0">
                <a:solidFill>
                  <a:srgbClr val="000000"/>
                </a:solidFill>
                <a:latin typeface="Graphik"/>
              </a:rPr>
              <a:t>&amp;</a:t>
            </a:r>
            <a:r>
              <a:rPr lang="zh-CN" altLang="en-US" sz="800" dirty="0">
                <a:solidFill>
                  <a:srgbClr val="000000"/>
                </a:solidFill>
                <a:latin typeface="Graphik"/>
              </a:rPr>
              <a:t>售后</a:t>
            </a:r>
            <a:r>
              <a:rPr lang="en-US" altLang="zh-CN" sz="800" dirty="0">
                <a:solidFill>
                  <a:srgbClr val="000000"/>
                </a:solidFill>
                <a:latin typeface="Graphik"/>
              </a:rPr>
              <a:t>&amp;</a:t>
            </a:r>
            <a:r>
              <a:rPr lang="zh-CN" altLang="en-US" sz="800" dirty="0">
                <a:solidFill>
                  <a:srgbClr val="000000"/>
                </a:solidFill>
                <a:latin typeface="Graphik"/>
              </a:rPr>
              <a:t>发票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3" name="TextBox 159">
            <a:extLst>
              <a:ext uri="{FF2B5EF4-FFF2-40B4-BE49-F238E27FC236}">
                <a16:creationId xmlns:a16="http://schemas.microsoft.com/office/drawing/2014/main" id="{39649A97-F349-5D79-0EB1-8D7D3DF04F0F}"/>
              </a:ext>
            </a:extLst>
          </p:cNvPr>
          <p:cNvSpPr txBox="1"/>
          <p:nvPr/>
        </p:nvSpPr>
        <p:spPr>
          <a:xfrm>
            <a:off x="4445919" y="4374486"/>
            <a:ext cx="955528" cy="1428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身份认证、密码同步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6" name="Rectangle 62">
            <a:extLst>
              <a:ext uri="{FF2B5EF4-FFF2-40B4-BE49-F238E27FC236}">
                <a16:creationId xmlns:a16="http://schemas.microsoft.com/office/drawing/2014/main" id="{D2A67E9A-35ED-DF58-48E0-F0F4A6F4DD5F}"/>
              </a:ext>
            </a:extLst>
          </p:cNvPr>
          <p:cNvSpPr/>
          <p:nvPr/>
        </p:nvSpPr>
        <p:spPr>
          <a:xfrm>
            <a:off x="4873675" y="5448824"/>
            <a:ext cx="2035448" cy="333599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仓库</a:t>
            </a:r>
          </a:p>
        </p:txBody>
      </p:sp>
      <p:cxnSp>
        <p:nvCxnSpPr>
          <p:cNvPr id="27" name="Straight Connector 115">
            <a:extLst>
              <a:ext uri="{FF2B5EF4-FFF2-40B4-BE49-F238E27FC236}">
                <a16:creationId xmlns:a16="http://schemas.microsoft.com/office/drawing/2014/main" id="{CE10648B-4DDC-08F9-1D65-2C2F308B99C9}"/>
              </a:ext>
            </a:extLst>
          </p:cNvPr>
          <p:cNvCxnSpPr>
            <a:cxnSpLocks/>
          </p:cNvCxnSpPr>
          <p:nvPr/>
        </p:nvCxnSpPr>
        <p:spPr>
          <a:xfrm rot="5400000">
            <a:off x="4625427" y="5401218"/>
            <a:ext cx="0" cy="43200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159">
            <a:extLst>
              <a:ext uri="{FF2B5EF4-FFF2-40B4-BE49-F238E27FC236}">
                <a16:creationId xmlns:a16="http://schemas.microsoft.com/office/drawing/2014/main" id="{8F871380-0008-A348-5503-36D2902CD0E0}"/>
              </a:ext>
            </a:extLst>
          </p:cNvPr>
          <p:cNvSpPr txBox="1"/>
          <p:nvPr/>
        </p:nvSpPr>
        <p:spPr>
          <a:xfrm>
            <a:off x="4481462" y="5423711"/>
            <a:ext cx="209200" cy="4679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订单</a:t>
            </a:r>
          </a:p>
        </p:txBody>
      </p:sp>
      <p:sp>
        <p:nvSpPr>
          <p:cNvPr id="29" name="Rectangle 85">
            <a:extLst>
              <a:ext uri="{FF2B5EF4-FFF2-40B4-BE49-F238E27FC236}">
                <a16:creationId xmlns:a16="http://schemas.microsoft.com/office/drawing/2014/main" id="{2CF9A780-6D0F-1BA7-AFC9-46B5D98F12F2}"/>
              </a:ext>
            </a:extLst>
          </p:cNvPr>
          <p:cNvSpPr/>
          <p:nvPr/>
        </p:nvSpPr>
        <p:spPr>
          <a:xfrm>
            <a:off x="2054156" y="2299766"/>
            <a:ext cx="4880989" cy="1896636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ysClr val="windowText" lastClr="000000"/>
                </a:solidFill>
                <a:latin typeface="Graphik"/>
                <a:ea typeface="等线" panose="02010600030101010101" pitchFamily="2" charset="-122"/>
              </a:rPr>
              <a:t>零售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等线" panose="02010600030101010101" pitchFamily="2" charset="-122"/>
                <a:cs typeface="+mn-cs"/>
              </a:rPr>
              <a:t>管理系统</a:t>
            </a:r>
          </a:p>
        </p:txBody>
      </p:sp>
      <p:sp>
        <p:nvSpPr>
          <p:cNvPr id="30" name="Rectangle 85">
            <a:extLst>
              <a:ext uri="{FF2B5EF4-FFF2-40B4-BE49-F238E27FC236}">
                <a16:creationId xmlns:a16="http://schemas.microsoft.com/office/drawing/2014/main" id="{8C4D356A-9747-851D-3D4F-5BA32B3810C7}"/>
              </a:ext>
            </a:extLst>
          </p:cNvPr>
          <p:cNvSpPr/>
          <p:nvPr/>
        </p:nvSpPr>
        <p:spPr>
          <a:xfrm>
            <a:off x="2174367" y="3447647"/>
            <a:ext cx="4022992" cy="309487"/>
          </a:xfrm>
          <a:prstGeom prst="rect">
            <a:avLst/>
          </a:prstGeom>
          <a:solidFill>
            <a:srgbClr val="4472C4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22D8E47-99E2-EA2E-4BED-BC04959F8913}"/>
              </a:ext>
            </a:extLst>
          </p:cNvPr>
          <p:cNvSpPr txBox="1"/>
          <p:nvPr/>
        </p:nvSpPr>
        <p:spPr>
          <a:xfrm>
            <a:off x="3720981" y="3501663"/>
            <a:ext cx="8999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业务中心层</a:t>
            </a:r>
          </a:p>
        </p:txBody>
      </p:sp>
      <p:sp>
        <p:nvSpPr>
          <p:cNvPr id="32" name="Rectangle 85">
            <a:extLst>
              <a:ext uri="{FF2B5EF4-FFF2-40B4-BE49-F238E27FC236}">
                <a16:creationId xmlns:a16="http://schemas.microsoft.com/office/drawing/2014/main" id="{9B795CA9-29C4-23A7-8ADD-0DC694852602}"/>
              </a:ext>
            </a:extLst>
          </p:cNvPr>
          <p:cNvSpPr/>
          <p:nvPr/>
        </p:nvSpPr>
        <p:spPr>
          <a:xfrm>
            <a:off x="2174367" y="3043688"/>
            <a:ext cx="4023179" cy="357643"/>
          </a:xfrm>
          <a:prstGeom prst="rect">
            <a:avLst/>
          </a:prstGeom>
          <a:solidFill>
            <a:srgbClr val="92ADDD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5A0E474-1064-D105-7B90-1885FFD81C91}"/>
              </a:ext>
            </a:extLst>
          </p:cNvPr>
          <p:cNvSpPr txBox="1"/>
          <p:nvPr/>
        </p:nvSpPr>
        <p:spPr>
          <a:xfrm>
            <a:off x="3667359" y="3129791"/>
            <a:ext cx="10007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品牌业务层</a:t>
            </a:r>
          </a:p>
        </p:txBody>
      </p:sp>
      <p:sp>
        <p:nvSpPr>
          <p:cNvPr id="34" name="Rectangle 85">
            <a:extLst>
              <a:ext uri="{FF2B5EF4-FFF2-40B4-BE49-F238E27FC236}">
                <a16:creationId xmlns:a16="http://schemas.microsoft.com/office/drawing/2014/main" id="{D691F15A-F96C-BEA0-6783-13E23D1C6F61}"/>
              </a:ext>
            </a:extLst>
          </p:cNvPr>
          <p:cNvSpPr/>
          <p:nvPr/>
        </p:nvSpPr>
        <p:spPr>
          <a:xfrm>
            <a:off x="6246356" y="2645215"/>
            <a:ext cx="552851" cy="1117187"/>
          </a:xfrm>
          <a:prstGeom prst="rect">
            <a:avLst/>
          </a:prstGeom>
          <a:solidFill>
            <a:srgbClr val="92ADDD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47B28AA-D7D3-2038-AD60-876D3A3DF285}"/>
              </a:ext>
            </a:extLst>
          </p:cNvPr>
          <p:cNvSpPr txBox="1"/>
          <p:nvPr/>
        </p:nvSpPr>
        <p:spPr>
          <a:xfrm>
            <a:off x="6403287" y="2847831"/>
            <a:ext cx="3701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待办提醒</a:t>
            </a:r>
          </a:p>
        </p:txBody>
      </p:sp>
      <p:sp>
        <p:nvSpPr>
          <p:cNvPr id="36" name="Rectangle 85">
            <a:extLst>
              <a:ext uri="{FF2B5EF4-FFF2-40B4-BE49-F238E27FC236}">
                <a16:creationId xmlns:a16="http://schemas.microsoft.com/office/drawing/2014/main" id="{3950DC85-1C32-DEC0-1CFF-C9483E614974}"/>
              </a:ext>
            </a:extLst>
          </p:cNvPr>
          <p:cNvSpPr/>
          <p:nvPr/>
        </p:nvSpPr>
        <p:spPr>
          <a:xfrm>
            <a:off x="2174367" y="3800409"/>
            <a:ext cx="4640571" cy="309487"/>
          </a:xfrm>
          <a:prstGeom prst="rect">
            <a:avLst/>
          </a:prstGeom>
          <a:solidFill>
            <a:srgbClr val="4472C4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442D0AD-702E-F5AF-039F-77E4113189FF}"/>
              </a:ext>
            </a:extLst>
          </p:cNvPr>
          <p:cNvSpPr txBox="1"/>
          <p:nvPr/>
        </p:nvSpPr>
        <p:spPr>
          <a:xfrm>
            <a:off x="4111558" y="3863038"/>
            <a:ext cx="8999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基础数据层</a:t>
            </a:r>
          </a:p>
        </p:txBody>
      </p:sp>
      <p:sp>
        <p:nvSpPr>
          <p:cNvPr id="38" name="Rectangle 85">
            <a:extLst>
              <a:ext uri="{FF2B5EF4-FFF2-40B4-BE49-F238E27FC236}">
                <a16:creationId xmlns:a16="http://schemas.microsoft.com/office/drawing/2014/main" id="{1164651D-91CC-221D-1EFA-55ADE833A630}"/>
              </a:ext>
            </a:extLst>
          </p:cNvPr>
          <p:cNvSpPr/>
          <p:nvPr/>
        </p:nvSpPr>
        <p:spPr>
          <a:xfrm>
            <a:off x="2174367" y="2645216"/>
            <a:ext cx="2190138" cy="357643"/>
          </a:xfrm>
          <a:prstGeom prst="rect">
            <a:avLst/>
          </a:prstGeom>
          <a:solidFill>
            <a:srgbClr val="92ADDD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9" name="Rectangle 85">
            <a:extLst>
              <a:ext uri="{FF2B5EF4-FFF2-40B4-BE49-F238E27FC236}">
                <a16:creationId xmlns:a16="http://schemas.microsoft.com/office/drawing/2014/main" id="{A58482E3-9933-3BBB-1082-7BADB6470515}"/>
              </a:ext>
            </a:extLst>
          </p:cNvPr>
          <p:cNvSpPr/>
          <p:nvPr/>
        </p:nvSpPr>
        <p:spPr>
          <a:xfrm>
            <a:off x="4404621" y="2645216"/>
            <a:ext cx="1801619" cy="357643"/>
          </a:xfrm>
          <a:prstGeom prst="rect">
            <a:avLst/>
          </a:prstGeom>
          <a:solidFill>
            <a:srgbClr val="92ADDD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CEA2A5B-8E45-2DFB-09FB-C34CC69FA618}"/>
              </a:ext>
            </a:extLst>
          </p:cNvPr>
          <p:cNvSpPr txBox="1"/>
          <p:nvPr/>
        </p:nvSpPr>
        <p:spPr>
          <a:xfrm>
            <a:off x="2813880" y="2698737"/>
            <a:ext cx="10007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门店端工作台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65EF7A1-99CF-4C09-839F-98B87A868027}"/>
              </a:ext>
            </a:extLst>
          </p:cNvPr>
          <p:cNvSpPr txBox="1"/>
          <p:nvPr/>
        </p:nvSpPr>
        <p:spPr>
          <a:xfrm>
            <a:off x="4997309" y="2710961"/>
            <a:ext cx="1088233" cy="246221"/>
          </a:xfrm>
          <a:prstGeom prst="rect">
            <a:avLst/>
          </a:prstGeom>
          <a:solidFill>
            <a:srgbClr val="92ADDD"/>
          </a:solidFill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chemeClr val="bg1"/>
                </a:solidFill>
                <a:latin typeface="+mn-ea"/>
              </a:rPr>
              <a:t>三方</a:t>
            </a:r>
            <a:r>
              <a:rPr lang="zh-CN" altLang="en-US" sz="1000">
                <a:solidFill>
                  <a:schemeClr val="bg1"/>
                </a:solidFill>
                <a:latin typeface="+mn-ea"/>
              </a:rPr>
              <a:t>端工作台</a:t>
            </a:r>
            <a:endParaRPr lang="zh-CN" altLang="en-US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2" name="标题 7">
            <a:extLst>
              <a:ext uri="{FF2B5EF4-FFF2-40B4-BE49-F238E27FC236}">
                <a16:creationId xmlns:a16="http://schemas.microsoft.com/office/drawing/2014/main" id="{F41839B5-428A-BFFA-1F12-C87796679C5A}"/>
              </a:ext>
            </a:extLst>
          </p:cNvPr>
          <p:cNvSpPr txBox="1">
            <a:spLocks/>
          </p:cNvSpPr>
          <p:nvPr/>
        </p:nvSpPr>
        <p:spPr>
          <a:xfrm>
            <a:off x="1072004" y="489840"/>
            <a:ext cx="7348982" cy="4583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与外部</a:t>
            </a:r>
            <a:r>
              <a:rPr lang="zh-CN" altLang="en-US" b="1"/>
              <a:t>系统关系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767C1F7-525C-45E2-5FF9-E5EE24BB7A6C}"/>
              </a:ext>
            </a:extLst>
          </p:cNvPr>
          <p:cNvSpPr txBox="1"/>
          <p:nvPr/>
        </p:nvSpPr>
        <p:spPr>
          <a:xfrm>
            <a:off x="1072003" y="182063"/>
            <a:ext cx="3338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External System Relationships</a:t>
            </a:r>
            <a:endParaRPr lang="zh-CN" altLang="en-US" sz="1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angle 62">
            <a:extLst>
              <a:ext uri="{FF2B5EF4-FFF2-40B4-BE49-F238E27FC236}">
                <a16:creationId xmlns:a16="http://schemas.microsoft.com/office/drawing/2014/main" id="{2F405BFC-F14E-3835-083A-3F6ABC161C99}"/>
              </a:ext>
            </a:extLst>
          </p:cNvPr>
          <p:cNvSpPr/>
          <p:nvPr/>
        </p:nvSpPr>
        <p:spPr>
          <a:xfrm>
            <a:off x="5709684" y="4679993"/>
            <a:ext cx="1123122" cy="251000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solidFill>
                  <a:schemeClr val="tx1"/>
                </a:solidFill>
                <a:latin typeface="Graphik"/>
                <a:ea typeface="等线" panose="02010600030101010101" pitchFamily="2" charset="-122"/>
              </a:rPr>
              <a:t>BPM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45" name="Straight Connector 91">
            <a:extLst>
              <a:ext uri="{FF2B5EF4-FFF2-40B4-BE49-F238E27FC236}">
                <a16:creationId xmlns:a16="http://schemas.microsoft.com/office/drawing/2014/main" id="{052E537A-AD80-2C73-A35D-D508B7D721BE}"/>
              </a:ext>
            </a:extLst>
          </p:cNvPr>
          <p:cNvCxnSpPr>
            <a:cxnSpLocks/>
          </p:cNvCxnSpPr>
          <p:nvPr/>
        </p:nvCxnSpPr>
        <p:spPr>
          <a:xfrm>
            <a:off x="6271245" y="4215076"/>
            <a:ext cx="0" cy="444619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159">
            <a:extLst>
              <a:ext uri="{FF2B5EF4-FFF2-40B4-BE49-F238E27FC236}">
                <a16:creationId xmlns:a16="http://schemas.microsoft.com/office/drawing/2014/main" id="{8AE19C28-89E0-3461-36D0-D0AD3837A097}"/>
              </a:ext>
            </a:extLst>
          </p:cNvPr>
          <p:cNvSpPr txBox="1"/>
          <p:nvPr/>
        </p:nvSpPr>
        <p:spPr>
          <a:xfrm>
            <a:off x="5927096" y="4401118"/>
            <a:ext cx="688298" cy="112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审批流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0" name="Rectangle 62">
            <a:extLst>
              <a:ext uri="{FF2B5EF4-FFF2-40B4-BE49-F238E27FC236}">
                <a16:creationId xmlns:a16="http://schemas.microsoft.com/office/drawing/2014/main" id="{1F51C65A-BAD5-6FEC-E339-B78412E3688B}"/>
              </a:ext>
            </a:extLst>
          </p:cNvPr>
          <p:cNvSpPr/>
          <p:nvPr/>
        </p:nvSpPr>
        <p:spPr>
          <a:xfrm>
            <a:off x="428625" y="2396267"/>
            <a:ext cx="894437" cy="335513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Graphik"/>
                <a:ea typeface="等线" panose="02010600030101010101" pitchFamily="2" charset="-122"/>
              </a:rPr>
              <a:t>小票机子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51" name="Straight Connector 91">
            <a:extLst>
              <a:ext uri="{FF2B5EF4-FFF2-40B4-BE49-F238E27FC236}">
                <a16:creationId xmlns:a16="http://schemas.microsoft.com/office/drawing/2014/main" id="{CA361888-0D81-6914-C034-25FEEDB6EA21}"/>
              </a:ext>
            </a:extLst>
          </p:cNvPr>
          <p:cNvCxnSpPr>
            <a:cxnSpLocks/>
          </p:cNvCxnSpPr>
          <p:nvPr/>
        </p:nvCxnSpPr>
        <p:spPr>
          <a:xfrm flipH="1">
            <a:off x="1396954" y="2564023"/>
            <a:ext cx="565621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159">
            <a:extLst>
              <a:ext uri="{FF2B5EF4-FFF2-40B4-BE49-F238E27FC236}">
                <a16:creationId xmlns:a16="http://schemas.microsoft.com/office/drawing/2014/main" id="{C74A1135-7D89-2FBB-F0BF-527F81822F35}"/>
              </a:ext>
            </a:extLst>
          </p:cNvPr>
          <p:cNvSpPr txBox="1"/>
          <p:nvPr/>
        </p:nvSpPr>
        <p:spPr>
          <a:xfrm>
            <a:off x="1460810" y="2473957"/>
            <a:ext cx="379232" cy="180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dirty="0">
                <a:solidFill>
                  <a:srgbClr val="000000"/>
                </a:solidFill>
                <a:latin typeface="Graphik"/>
              </a:rPr>
              <a:t>打印</a:t>
            </a:r>
            <a:endParaRPr lang="en-US" altLang="zh-CN" sz="700" dirty="0">
              <a:solidFill>
                <a:srgbClr val="000000"/>
              </a:solidFill>
              <a:latin typeface="Graphik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dirty="0">
                <a:solidFill>
                  <a:srgbClr val="000000"/>
                </a:solidFill>
                <a:latin typeface="Graphik"/>
              </a:rPr>
              <a:t>小票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55" name="Straight Connector 91">
            <a:extLst>
              <a:ext uri="{FF2B5EF4-FFF2-40B4-BE49-F238E27FC236}">
                <a16:creationId xmlns:a16="http://schemas.microsoft.com/office/drawing/2014/main" id="{36CC92BE-7085-93BE-BA12-BFE7F1D08723}"/>
              </a:ext>
            </a:extLst>
          </p:cNvPr>
          <p:cNvCxnSpPr>
            <a:cxnSpLocks/>
          </p:cNvCxnSpPr>
          <p:nvPr/>
        </p:nvCxnSpPr>
        <p:spPr>
          <a:xfrm flipH="1">
            <a:off x="1379417" y="3285946"/>
            <a:ext cx="565621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159">
            <a:extLst>
              <a:ext uri="{FF2B5EF4-FFF2-40B4-BE49-F238E27FC236}">
                <a16:creationId xmlns:a16="http://schemas.microsoft.com/office/drawing/2014/main" id="{341E38BD-18FE-CF31-2693-93F3726EAE86}"/>
              </a:ext>
            </a:extLst>
          </p:cNvPr>
          <p:cNvSpPr txBox="1"/>
          <p:nvPr/>
        </p:nvSpPr>
        <p:spPr>
          <a:xfrm>
            <a:off x="1443273" y="3195880"/>
            <a:ext cx="379232" cy="180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dirty="0">
                <a:solidFill>
                  <a:srgbClr val="000000"/>
                </a:solidFill>
                <a:latin typeface="Graphik"/>
              </a:rPr>
              <a:t>支付</a:t>
            </a:r>
            <a:endParaRPr lang="en-US" altLang="zh-CN" sz="700" dirty="0">
              <a:solidFill>
                <a:srgbClr val="000000"/>
              </a:solidFill>
              <a:latin typeface="Graphik"/>
            </a:endParaRPr>
          </a:p>
        </p:txBody>
      </p:sp>
      <p:cxnSp>
        <p:nvCxnSpPr>
          <p:cNvPr id="65" name="Straight Connector 91">
            <a:extLst>
              <a:ext uri="{FF2B5EF4-FFF2-40B4-BE49-F238E27FC236}">
                <a16:creationId xmlns:a16="http://schemas.microsoft.com/office/drawing/2014/main" id="{E9F9A03C-70F9-1C97-8E68-9FAC1821EF92}"/>
              </a:ext>
            </a:extLst>
          </p:cNvPr>
          <p:cNvCxnSpPr>
            <a:cxnSpLocks/>
          </p:cNvCxnSpPr>
          <p:nvPr/>
        </p:nvCxnSpPr>
        <p:spPr>
          <a:xfrm>
            <a:off x="3236091" y="4235374"/>
            <a:ext cx="0" cy="33854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98">
            <a:extLst>
              <a:ext uri="{FF2B5EF4-FFF2-40B4-BE49-F238E27FC236}">
                <a16:creationId xmlns:a16="http://schemas.microsoft.com/office/drawing/2014/main" id="{6DC7A201-73DF-CD23-B360-92B4C0A4E6F8}"/>
              </a:ext>
            </a:extLst>
          </p:cNvPr>
          <p:cNvSpPr txBox="1"/>
          <p:nvPr/>
        </p:nvSpPr>
        <p:spPr>
          <a:xfrm>
            <a:off x="2931846" y="4349541"/>
            <a:ext cx="608490" cy="19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dirty="0">
                <a:solidFill>
                  <a:srgbClr val="000000"/>
                </a:solidFill>
                <a:latin typeface="Graphik"/>
              </a:rPr>
              <a:t>限价同步</a:t>
            </a:r>
            <a:endParaRPr lang="en-US" sz="700" dirty="0">
              <a:solidFill>
                <a:srgbClr val="000000"/>
              </a:solidFill>
              <a:latin typeface="Graphik"/>
            </a:endParaRPr>
          </a:p>
        </p:txBody>
      </p:sp>
      <p:sp>
        <p:nvSpPr>
          <p:cNvPr id="68" name="Rectangle 62">
            <a:extLst>
              <a:ext uri="{FF2B5EF4-FFF2-40B4-BE49-F238E27FC236}">
                <a16:creationId xmlns:a16="http://schemas.microsoft.com/office/drawing/2014/main" id="{398DE020-309F-BEA7-47E1-642357791476}"/>
              </a:ext>
            </a:extLst>
          </p:cNvPr>
          <p:cNvSpPr/>
          <p:nvPr/>
        </p:nvSpPr>
        <p:spPr>
          <a:xfrm>
            <a:off x="7631991" y="3529914"/>
            <a:ext cx="894437" cy="537365"/>
          </a:xfrm>
          <a:prstGeom prst="rect">
            <a:avLst/>
          </a:prstGeom>
          <a:solidFill>
            <a:srgbClr val="F2F2F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Graphik"/>
                <a:ea typeface="等线" panose="02010600030101010101" pitchFamily="2" charset="-122"/>
              </a:rPr>
              <a:t>微信</a:t>
            </a:r>
            <a:endParaRPr lang="en-US" altLang="zh-CN" sz="1400" b="1" dirty="0">
              <a:solidFill>
                <a:schemeClr val="tx1"/>
              </a:solidFill>
              <a:latin typeface="Graphik"/>
              <a:ea typeface="等线" panose="02010600030101010101" pitchFamily="2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Graphik"/>
                <a:ea typeface="等线" panose="02010600030101010101" pitchFamily="2" charset="-122"/>
              </a:rPr>
              <a:t>优惠券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69" name="Straight Connector 91">
            <a:extLst>
              <a:ext uri="{FF2B5EF4-FFF2-40B4-BE49-F238E27FC236}">
                <a16:creationId xmlns:a16="http://schemas.microsoft.com/office/drawing/2014/main" id="{827A3F83-9450-9351-7673-F2191BA54137}"/>
              </a:ext>
            </a:extLst>
          </p:cNvPr>
          <p:cNvCxnSpPr>
            <a:cxnSpLocks/>
          </p:cNvCxnSpPr>
          <p:nvPr/>
        </p:nvCxnSpPr>
        <p:spPr>
          <a:xfrm flipV="1">
            <a:off x="6988175" y="3800408"/>
            <a:ext cx="571500" cy="1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159">
            <a:extLst>
              <a:ext uri="{FF2B5EF4-FFF2-40B4-BE49-F238E27FC236}">
                <a16:creationId xmlns:a16="http://schemas.microsoft.com/office/drawing/2014/main" id="{6F35B324-2374-5857-E529-88D65CB6283C}"/>
              </a:ext>
            </a:extLst>
          </p:cNvPr>
          <p:cNvSpPr txBox="1"/>
          <p:nvPr/>
        </p:nvSpPr>
        <p:spPr>
          <a:xfrm>
            <a:off x="7132552" y="3727189"/>
            <a:ext cx="379232" cy="180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dirty="0">
                <a:solidFill>
                  <a:srgbClr val="000000"/>
                </a:solidFill>
                <a:latin typeface="Graphik"/>
              </a:rPr>
              <a:t>同步</a:t>
            </a:r>
            <a:endParaRPr lang="en-US" altLang="zh-CN" sz="700" dirty="0">
              <a:solidFill>
                <a:srgbClr val="000000"/>
              </a:solidFill>
              <a:latin typeface="Graphik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dirty="0">
                <a:solidFill>
                  <a:srgbClr val="000000"/>
                </a:solidFill>
                <a:latin typeface="Graphik"/>
              </a:rPr>
              <a:t>优惠券</a:t>
            </a:r>
            <a:endParaRPr lang="en-US" altLang="zh-CN" sz="700" dirty="0">
              <a:solidFill>
                <a:srgbClr val="000000"/>
              </a:solidFill>
              <a:latin typeface="Graphik"/>
            </a:endParaRPr>
          </a:p>
        </p:txBody>
      </p:sp>
      <p:cxnSp>
        <p:nvCxnSpPr>
          <p:cNvPr id="78" name="Straight Connector 91">
            <a:extLst>
              <a:ext uri="{FF2B5EF4-FFF2-40B4-BE49-F238E27FC236}">
                <a16:creationId xmlns:a16="http://schemas.microsoft.com/office/drawing/2014/main" id="{A9765495-9C73-B4EA-BFCE-11DBE1598008}"/>
              </a:ext>
            </a:extLst>
          </p:cNvPr>
          <p:cNvCxnSpPr>
            <a:cxnSpLocks/>
          </p:cNvCxnSpPr>
          <p:nvPr/>
        </p:nvCxnSpPr>
        <p:spPr>
          <a:xfrm flipH="1">
            <a:off x="5411592" y="1926793"/>
            <a:ext cx="5154" cy="32305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159">
            <a:extLst>
              <a:ext uri="{FF2B5EF4-FFF2-40B4-BE49-F238E27FC236}">
                <a16:creationId xmlns:a16="http://schemas.microsoft.com/office/drawing/2014/main" id="{61072C18-BA6A-C8CE-BF1C-5E09F1C2685B}"/>
              </a:ext>
            </a:extLst>
          </p:cNvPr>
          <p:cNvSpPr txBox="1"/>
          <p:nvPr/>
        </p:nvSpPr>
        <p:spPr>
          <a:xfrm>
            <a:off x="5085966" y="2069891"/>
            <a:ext cx="661560" cy="112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lnSpc>
                <a:spcPct val="90000"/>
              </a:lnSpc>
              <a:defRPr sz="1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dirty="0">
                <a:solidFill>
                  <a:srgbClr val="000000"/>
                </a:solidFill>
                <a:latin typeface="Graphik"/>
              </a:rPr>
              <a:t>价格同步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610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04A8504D-3BE2-9DFA-7035-FD9BEFEAF00A}"/>
              </a:ext>
            </a:extLst>
          </p:cNvPr>
          <p:cNvSpPr/>
          <p:nvPr/>
        </p:nvSpPr>
        <p:spPr>
          <a:xfrm>
            <a:off x="2308074" y="1126542"/>
            <a:ext cx="4056108" cy="5328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marL="184150" algn="ctr">
              <a:spcBef>
                <a:spcPts val="100"/>
              </a:spcBef>
            </a:pPr>
            <a:endParaRPr lang="en-US" altLang="zh-CN" sz="11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4" name="流程 48">
            <a:extLst>
              <a:ext uri="{FF2B5EF4-FFF2-40B4-BE49-F238E27FC236}">
                <a16:creationId xmlns:a16="http://schemas.microsoft.com/office/drawing/2014/main" id="{676680A5-070B-97F3-EDAC-AB7A57AE47E5}"/>
              </a:ext>
            </a:extLst>
          </p:cNvPr>
          <p:cNvSpPr/>
          <p:nvPr/>
        </p:nvSpPr>
        <p:spPr>
          <a:xfrm>
            <a:off x="1160583" y="1736873"/>
            <a:ext cx="1069622" cy="366475"/>
          </a:xfrm>
          <a:prstGeom prst="flowChartProcess">
            <a:avLst/>
          </a:prstGeom>
          <a:solidFill>
            <a:srgbClr val="4472C4"/>
          </a:solidFill>
          <a:ln w="25400" cmpd="thickThin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zh-CN" altLang="en-US" sz="12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品牌应用</a:t>
            </a:r>
          </a:p>
        </p:txBody>
      </p:sp>
      <p:sp>
        <p:nvSpPr>
          <p:cNvPr id="25" name="流程 58">
            <a:extLst>
              <a:ext uri="{FF2B5EF4-FFF2-40B4-BE49-F238E27FC236}">
                <a16:creationId xmlns:a16="http://schemas.microsoft.com/office/drawing/2014/main" id="{139F23AB-1EB8-FD7A-A3B8-41D4A2F574EF}"/>
              </a:ext>
            </a:extLst>
          </p:cNvPr>
          <p:cNvSpPr/>
          <p:nvPr/>
        </p:nvSpPr>
        <p:spPr>
          <a:xfrm>
            <a:off x="1160583" y="1126542"/>
            <a:ext cx="1069623" cy="532618"/>
          </a:xfrm>
          <a:prstGeom prst="flowChartProcess">
            <a:avLst/>
          </a:prstGeom>
          <a:solidFill>
            <a:srgbClr val="4472C4"/>
          </a:solidFill>
          <a:ln w="25400" cmpd="thickThin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zh-CN" altLang="en-US" sz="12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数字化渠道</a:t>
            </a:r>
          </a:p>
        </p:txBody>
      </p:sp>
      <p:sp>
        <p:nvSpPr>
          <p:cNvPr id="28" name="流程 76">
            <a:extLst>
              <a:ext uri="{FF2B5EF4-FFF2-40B4-BE49-F238E27FC236}">
                <a16:creationId xmlns:a16="http://schemas.microsoft.com/office/drawing/2014/main" id="{8FE242F1-F30B-64B4-FB45-446E6931AD64}"/>
              </a:ext>
            </a:extLst>
          </p:cNvPr>
          <p:cNvSpPr/>
          <p:nvPr/>
        </p:nvSpPr>
        <p:spPr>
          <a:xfrm>
            <a:off x="1160583" y="3754782"/>
            <a:ext cx="1071771" cy="1883118"/>
          </a:xfrm>
          <a:prstGeom prst="flowChartProcess">
            <a:avLst/>
          </a:prstGeom>
          <a:solidFill>
            <a:srgbClr val="4472C4"/>
          </a:solidFill>
          <a:ln w="25400" cmpd="thickThin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zh-CN" altLang="en-US" sz="12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业务中心</a:t>
            </a:r>
          </a:p>
        </p:txBody>
      </p:sp>
      <p:sp>
        <p:nvSpPr>
          <p:cNvPr id="42" name="流程 195">
            <a:extLst>
              <a:ext uri="{FF2B5EF4-FFF2-40B4-BE49-F238E27FC236}">
                <a16:creationId xmlns:a16="http://schemas.microsoft.com/office/drawing/2014/main" id="{59820265-FA95-2D14-9BD3-824C56736E8A}"/>
              </a:ext>
            </a:extLst>
          </p:cNvPr>
          <p:cNvSpPr/>
          <p:nvPr/>
        </p:nvSpPr>
        <p:spPr>
          <a:xfrm>
            <a:off x="1164654" y="5715583"/>
            <a:ext cx="1067700" cy="418517"/>
          </a:xfrm>
          <a:prstGeom prst="flowChartProcess">
            <a:avLst/>
          </a:prstGeom>
          <a:solidFill>
            <a:srgbClr val="4472C4"/>
          </a:solidFill>
          <a:ln w="25400" cmpd="thickThin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zh-CN" altLang="en-US" sz="12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基础数据</a:t>
            </a:r>
            <a:endParaRPr kumimoji="1" lang="en-US" altLang="zh-CN" sz="1200" b="1" dirty="0">
              <a:solidFill>
                <a:schemeClr val="bg1"/>
              </a:solidFill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2141899-8270-379C-2424-529E36DE5FB3}"/>
              </a:ext>
            </a:extLst>
          </p:cNvPr>
          <p:cNvSpPr/>
          <p:nvPr/>
        </p:nvSpPr>
        <p:spPr>
          <a:xfrm>
            <a:off x="2312923" y="1748568"/>
            <a:ext cx="1278731" cy="3672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操作后台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4F20ED2A-A064-F819-84FC-885429A6BAA2}"/>
              </a:ext>
            </a:extLst>
          </p:cNvPr>
          <p:cNvSpPr/>
          <p:nvPr/>
        </p:nvSpPr>
        <p:spPr>
          <a:xfrm>
            <a:off x="3669523" y="1748568"/>
            <a:ext cx="920919" cy="3672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en-US" altLang="zh-CN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POS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18939F85-A7E1-6B9E-FAFD-B30D3F64FFEC}"/>
              </a:ext>
            </a:extLst>
          </p:cNvPr>
          <p:cNvSpPr/>
          <p:nvPr/>
        </p:nvSpPr>
        <p:spPr>
          <a:xfrm>
            <a:off x="6449540" y="1743549"/>
            <a:ext cx="2443171" cy="37171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marL="184150" algn="ctr">
              <a:spcBef>
                <a:spcPts val="100"/>
              </a:spcBef>
            </a:pPr>
            <a:endParaRPr lang="en-US" altLang="zh-CN" sz="11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2B24687-DA8E-5351-EC9F-16699E78BAB9}"/>
              </a:ext>
            </a:extLst>
          </p:cNvPr>
          <p:cNvSpPr/>
          <p:nvPr/>
        </p:nvSpPr>
        <p:spPr>
          <a:xfrm>
            <a:off x="6671180" y="1783729"/>
            <a:ext cx="1999891" cy="291354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能力对接</a:t>
            </a:r>
            <a:r>
              <a:rPr kumimoji="1" lang="en-US" altLang="zh-CN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(API)</a:t>
            </a:r>
          </a:p>
        </p:txBody>
      </p:sp>
      <p:sp>
        <p:nvSpPr>
          <p:cNvPr id="78" name="流程 93">
            <a:extLst>
              <a:ext uri="{FF2B5EF4-FFF2-40B4-BE49-F238E27FC236}">
                <a16:creationId xmlns:a16="http://schemas.microsoft.com/office/drawing/2014/main" id="{E0887E9A-C3F7-1698-6AFB-B177D83E3569}"/>
              </a:ext>
            </a:extLst>
          </p:cNvPr>
          <p:cNvSpPr/>
          <p:nvPr/>
        </p:nvSpPr>
        <p:spPr>
          <a:xfrm>
            <a:off x="2308074" y="4523647"/>
            <a:ext cx="1516231" cy="713969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kumimoji="1"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库存中心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1FB4D940-4F8F-8AB6-B570-88E0D3E239A4}"/>
              </a:ext>
            </a:extLst>
          </p:cNvPr>
          <p:cNvSpPr/>
          <p:nvPr/>
        </p:nvSpPr>
        <p:spPr>
          <a:xfrm>
            <a:off x="2405499" y="4766750"/>
            <a:ext cx="612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库存查询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B7E66EAD-5D66-C74B-16E3-D8D244212085}"/>
              </a:ext>
            </a:extLst>
          </p:cNvPr>
          <p:cNvSpPr/>
          <p:nvPr/>
        </p:nvSpPr>
        <p:spPr>
          <a:xfrm>
            <a:off x="2405498" y="4996975"/>
            <a:ext cx="612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调拨管理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4F63E6FC-0F47-FB3A-2DBF-9E8163739C4D}"/>
              </a:ext>
            </a:extLst>
          </p:cNvPr>
          <p:cNvSpPr/>
          <p:nvPr/>
        </p:nvSpPr>
        <p:spPr>
          <a:xfrm>
            <a:off x="3107067" y="4766750"/>
            <a:ext cx="612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库存盘点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D1EED8F5-D304-E424-5F1C-F959C0C0CFD9}"/>
              </a:ext>
            </a:extLst>
          </p:cNvPr>
          <p:cNvGrpSpPr/>
          <p:nvPr/>
        </p:nvGrpSpPr>
        <p:grpSpPr>
          <a:xfrm>
            <a:off x="2308074" y="3754783"/>
            <a:ext cx="1516231" cy="690704"/>
            <a:chOff x="2308074" y="3773456"/>
            <a:chExt cx="1516231" cy="690704"/>
          </a:xfrm>
        </p:grpSpPr>
        <p:sp>
          <p:nvSpPr>
            <p:cNvPr id="86" name="流程 93">
              <a:extLst>
                <a:ext uri="{FF2B5EF4-FFF2-40B4-BE49-F238E27FC236}">
                  <a16:creationId xmlns:a16="http://schemas.microsoft.com/office/drawing/2014/main" id="{74DE1CC9-D201-2DA6-4204-28A77E06FC55}"/>
                </a:ext>
              </a:extLst>
            </p:cNvPr>
            <p:cNvSpPr/>
            <p:nvPr/>
          </p:nvSpPr>
          <p:spPr>
            <a:xfrm>
              <a:off x="2308074" y="3773456"/>
              <a:ext cx="1516231" cy="690704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 anchorCtr="0"/>
            <a:lstStyle/>
            <a:p>
              <a:pPr algn="ctr"/>
              <a:r>
                <a:rPr kumimoji="1"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用户中心</a:t>
              </a: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BA8F04BD-1AB4-EEE3-7F37-920FA7FB2A8C}"/>
                </a:ext>
              </a:extLst>
            </p:cNvPr>
            <p:cNvSpPr/>
            <p:nvPr/>
          </p:nvSpPr>
          <p:spPr>
            <a:xfrm>
              <a:off x="2398128" y="4021581"/>
              <a:ext cx="612000" cy="174396"/>
            </a:xfrm>
            <a:prstGeom prst="rect">
              <a:avLst/>
            </a:prstGeom>
            <a:solidFill>
              <a:srgbClr val="4472C4">
                <a:alpha val="5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zh-CN" altLang="en-US" sz="700" dirty="0">
                  <a:solidFill>
                    <a:schemeClr val="bg1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账号管理</a:t>
              </a:r>
              <a:endParaRPr kumimoji="1" lang="en-US" altLang="zh-CN" sz="7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E2DD2B38-85C3-0CC5-03CD-E965C0F24A32}"/>
                </a:ext>
              </a:extLst>
            </p:cNvPr>
            <p:cNvSpPr/>
            <p:nvPr/>
          </p:nvSpPr>
          <p:spPr>
            <a:xfrm>
              <a:off x="3089063" y="4021581"/>
              <a:ext cx="612000" cy="169450"/>
            </a:xfrm>
            <a:prstGeom prst="rect">
              <a:avLst/>
            </a:prstGeom>
            <a:solidFill>
              <a:srgbClr val="4472C4">
                <a:alpha val="5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zh-CN" altLang="en-US" sz="800" dirty="0">
                  <a:solidFill>
                    <a:schemeClr val="bg1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品牌管理</a:t>
              </a:r>
              <a:endParaRPr kumimoji="1" lang="en-US" altLang="zh-CN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endParaRPr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0CF9B4A1-EEA6-E54F-5C88-0484C8A83F69}"/>
                </a:ext>
              </a:extLst>
            </p:cNvPr>
            <p:cNvSpPr/>
            <p:nvPr/>
          </p:nvSpPr>
          <p:spPr>
            <a:xfrm>
              <a:off x="2398128" y="4264048"/>
              <a:ext cx="612000" cy="169450"/>
            </a:xfrm>
            <a:prstGeom prst="rect">
              <a:avLst/>
            </a:prstGeom>
            <a:solidFill>
              <a:srgbClr val="4472C4">
                <a:alpha val="5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zh-CN" altLang="en-US" sz="700" dirty="0">
                  <a:solidFill>
                    <a:schemeClr val="bg1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业务模块管理</a:t>
              </a:r>
              <a:endParaRPr kumimoji="1" lang="en-US" altLang="zh-CN" sz="7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endParaRPr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3B1A7645-4E37-ACC5-F5A2-CD62BAABC9BE}"/>
                </a:ext>
              </a:extLst>
            </p:cNvPr>
            <p:cNvSpPr/>
            <p:nvPr/>
          </p:nvSpPr>
          <p:spPr>
            <a:xfrm>
              <a:off x="3094437" y="4264048"/>
              <a:ext cx="612000" cy="169450"/>
            </a:xfrm>
            <a:prstGeom prst="rect">
              <a:avLst/>
            </a:prstGeom>
            <a:solidFill>
              <a:srgbClr val="4472C4">
                <a:alpha val="5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</a:rPr>
                <a:t>…</a:t>
              </a:r>
            </a:p>
          </p:txBody>
        </p:sp>
      </p:grpSp>
      <p:sp>
        <p:nvSpPr>
          <p:cNvPr id="112" name="流程 93">
            <a:extLst>
              <a:ext uri="{FF2B5EF4-FFF2-40B4-BE49-F238E27FC236}">
                <a16:creationId xmlns:a16="http://schemas.microsoft.com/office/drawing/2014/main" id="{21CE2E11-01A7-A616-C62C-69EB9FE6EA1F}"/>
              </a:ext>
            </a:extLst>
          </p:cNvPr>
          <p:cNvSpPr/>
          <p:nvPr/>
        </p:nvSpPr>
        <p:spPr>
          <a:xfrm>
            <a:off x="6740079" y="3754783"/>
            <a:ext cx="1134732" cy="698407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kumimoji="1"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卡券中心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600B594D-6C7B-FBD1-CD7D-201E544CC89F}"/>
              </a:ext>
            </a:extLst>
          </p:cNvPr>
          <p:cNvSpPr/>
          <p:nvPr/>
        </p:nvSpPr>
        <p:spPr>
          <a:xfrm>
            <a:off x="6988833" y="4014604"/>
            <a:ext cx="638287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活动管理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2C7F23E6-58EC-235E-9895-9F3CEDE070EC}"/>
              </a:ext>
            </a:extLst>
          </p:cNvPr>
          <p:cNvSpPr/>
          <p:nvPr/>
        </p:nvSpPr>
        <p:spPr>
          <a:xfrm>
            <a:off x="6988833" y="4257071"/>
            <a:ext cx="638287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券管理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86" name="流程 48">
            <a:extLst>
              <a:ext uri="{FF2B5EF4-FFF2-40B4-BE49-F238E27FC236}">
                <a16:creationId xmlns:a16="http://schemas.microsoft.com/office/drawing/2014/main" id="{AB5E1610-A234-9890-E809-F4D672B36A37}"/>
              </a:ext>
            </a:extLst>
          </p:cNvPr>
          <p:cNvSpPr/>
          <p:nvPr/>
        </p:nvSpPr>
        <p:spPr>
          <a:xfrm>
            <a:off x="1160583" y="2165033"/>
            <a:ext cx="1069622" cy="1512825"/>
          </a:xfrm>
          <a:prstGeom prst="flowChartProcess">
            <a:avLst/>
          </a:prstGeom>
          <a:solidFill>
            <a:srgbClr val="4472C4"/>
          </a:solidFill>
          <a:ln w="25400" cmpd="thickThin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zh-CN" altLang="en-US" sz="12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品牌业务</a:t>
            </a:r>
          </a:p>
        </p:txBody>
      </p:sp>
      <p:sp>
        <p:nvSpPr>
          <p:cNvPr id="221" name="流程 93">
            <a:extLst>
              <a:ext uri="{FF2B5EF4-FFF2-40B4-BE49-F238E27FC236}">
                <a16:creationId xmlns:a16="http://schemas.microsoft.com/office/drawing/2014/main" id="{B8123D84-B622-4F7E-0275-2005E780F103}"/>
              </a:ext>
            </a:extLst>
          </p:cNvPr>
          <p:cNvSpPr/>
          <p:nvPr/>
        </p:nvSpPr>
        <p:spPr>
          <a:xfrm>
            <a:off x="6449541" y="2188030"/>
            <a:ext cx="1425551" cy="772482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kumimoji="1"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三方端业务层</a:t>
            </a:r>
          </a:p>
        </p:txBody>
      </p:sp>
      <p:sp>
        <p:nvSpPr>
          <p:cNvPr id="222" name="流程 93">
            <a:extLst>
              <a:ext uri="{FF2B5EF4-FFF2-40B4-BE49-F238E27FC236}">
                <a16:creationId xmlns:a16="http://schemas.microsoft.com/office/drawing/2014/main" id="{7495CC33-012A-F010-6134-FF32A55A26AF}"/>
              </a:ext>
            </a:extLst>
          </p:cNvPr>
          <p:cNvSpPr/>
          <p:nvPr/>
        </p:nvSpPr>
        <p:spPr>
          <a:xfrm>
            <a:off x="2308074" y="2188030"/>
            <a:ext cx="4056108" cy="772482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kumimoji="1"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门店端业务层</a:t>
            </a:r>
          </a:p>
        </p:txBody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FB13F304-6E45-4D7F-1D8D-49DED54DAB69}"/>
              </a:ext>
            </a:extLst>
          </p:cNvPr>
          <p:cNvSpPr/>
          <p:nvPr/>
        </p:nvSpPr>
        <p:spPr>
          <a:xfrm>
            <a:off x="2358309" y="2506377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销售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F321CDBA-060C-DF4D-2848-EA2B4CA94C34}"/>
              </a:ext>
            </a:extLst>
          </p:cNvPr>
          <p:cNvSpPr/>
          <p:nvPr/>
        </p:nvSpPr>
        <p:spPr>
          <a:xfrm>
            <a:off x="3026759" y="2506377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盘点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D5622725-08A7-12CA-011A-D7512D2132DC}"/>
              </a:ext>
            </a:extLst>
          </p:cNvPr>
          <p:cNvSpPr/>
          <p:nvPr/>
        </p:nvSpPr>
        <p:spPr>
          <a:xfrm>
            <a:off x="3695209" y="2506377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退货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A674FA94-8F62-B26E-1188-7FB9AE1D697D}"/>
              </a:ext>
            </a:extLst>
          </p:cNvPr>
          <p:cNvSpPr/>
          <p:nvPr/>
        </p:nvSpPr>
        <p:spPr>
          <a:xfrm>
            <a:off x="5700559" y="2506377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换货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C1EFA779-EC3B-E0DC-72EA-09E541B2B43A}"/>
              </a:ext>
            </a:extLst>
          </p:cNvPr>
          <p:cNvSpPr/>
          <p:nvPr/>
        </p:nvSpPr>
        <p:spPr>
          <a:xfrm>
            <a:off x="2367201" y="2741979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调入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3E671ADF-6384-E990-416F-87E1C54AE193}"/>
              </a:ext>
            </a:extLst>
          </p:cNvPr>
          <p:cNvSpPr/>
          <p:nvPr/>
        </p:nvSpPr>
        <p:spPr>
          <a:xfrm>
            <a:off x="3032083" y="2741979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调出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B8F691CA-2BBA-8C09-E9FB-3668AB3EF576}"/>
              </a:ext>
            </a:extLst>
          </p:cNvPr>
          <p:cNvSpPr/>
          <p:nvPr/>
        </p:nvSpPr>
        <p:spPr>
          <a:xfrm>
            <a:off x="4363659" y="2506377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折扣申请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44D6E921-6CFE-456D-636C-603BE108D170}"/>
              </a:ext>
            </a:extLst>
          </p:cNvPr>
          <p:cNvSpPr/>
          <p:nvPr/>
        </p:nvSpPr>
        <p:spPr>
          <a:xfrm>
            <a:off x="3696965" y="2741979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开票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A051E63F-1549-6C1F-9FDE-053472EE7A40}"/>
              </a:ext>
            </a:extLst>
          </p:cNvPr>
          <p:cNvSpPr/>
          <p:nvPr/>
        </p:nvSpPr>
        <p:spPr>
          <a:xfrm>
            <a:off x="5032109" y="2506377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发券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99DD86E5-9732-A0C3-C87F-C88F52A89660}"/>
              </a:ext>
            </a:extLst>
          </p:cNvPr>
          <p:cNvSpPr/>
          <p:nvPr/>
        </p:nvSpPr>
        <p:spPr>
          <a:xfrm>
            <a:off x="4361847" y="2741979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查询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346858B6-A122-AA04-1837-13268C228CE2}"/>
              </a:ext>
            </a:extLst>
          </p:cNvPr>
          <p:cNvSpPr/>
          <p:nvPr/>
        </p:nvSpPr>
        <p:spPr>
          <a:xfrm>
            <a:off x="6546674" y="2492585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退货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CDC519A5-DEE2-C3E0-31D0-04EA28D57D6A}"/>
              </a:ext>
            </a:extLst>
          </p:cNvPr>
          <p:cNvSpPr/>
          <p:nvPr/>
        </p:nvSpPr>
        <p:spPr>
          <a:xfrm>
            <a:off x="7221122" y="2490539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换货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4262FBC7-0584-0EC2-4EE5-3D7D4A76A413}"/>
              </a:ext>
            </a:extLst>
          </p:cNvPr>
          <p:cNvSpPr/>
          <p:nvPr/>
        </p:nvSpPr>
        <p:spPr>
          <a:xfrm>
            <a:off x="6546674" y="2723789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开票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CCA2F245-AFA7-D204-E75E-70CE97A2D3A3}"/>
              </a:ext>
            </a:extLst>
          </p:cNvPr>
          <p:cNvSpPr/>
          <p:nvPr/>
        </p:nvSpPr>
        <p:spPr>
          <a:xfrm>
            <a:off x="7220390" y="2727916"/>
            <a:ext cx="576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查询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54" name="Rounded Rectangle 158">
            <a:extLst>
              <a:ext uri="{FF2B5EF4-FFF2-40B4-BE49-F238E27FC236}">
                <a16:creationId xmlns:a16="http://schemas.microsoft.com/office/drawing/2014/main" id="{4E6BB4BE-6EDB-2B6F-128E-E720A7D21CAD}"/>
              </a:ext>
            </a:extLst>
          </p:cNvPr>
          <p:cNvSpPr/>
          <p:nvPr/>
        </p:nvSpPr>
        <p:spPr>
          <a:xfrm>
            <a:off x="7965825" y="2199725"/>
            <a:ext cx="931735" cy="34534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tlCol="0" anchor="t" anchorCtr="0"/>
          <a:lstStyle/>
          <a:p>
            <a:pPr marL="184150" algn="ctr">
              <a:spcBef>
                <a:spcPts val="800"/>
              </a:spcBef>
            </a:pPr>
            <a:r>
              <a:rPr lang="zh-CN" altLang="en-US" sz="10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待办提醒</a:t>
            </a:r>
          </a:p>
        </p:txBody>
      </p:sp>
      <p:sp>
        <p:nvSpPr>
          <p:cNvPr id="264" name="矩形 263">
            <a:extLst>
              <a:ext uri="{FF2B5EF4-FFF2-40B4-BE49-F238E27FC236}">
                <a16:creationId xmlns:a16="http://schemas.microsoft.com/office/drawing/2014/main" id="{83AD4ABB-10E4-FCD5-F42E-401D19320EAC}"/>
              </a:ext>
            </a:extLst>
          </p:cNvPr>
          <p:cNvSpPr/>
          <p:nvPr/>
        </p:nvSpPr>
        <p:spPr>
          <a:xfrm>
            <a:off x="8016269" y="2598707"/>
            <a:ext cx="830847" cy="328062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未结单</a:t>
            </a:r>
          </a:p>
        </p:txBody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891A1823-C045-0D5C-0409-2030164F07A1}"/>
              </a:ext>
            </a:extLst>
          </p:cNvPr>
          <p:cNvSpPr/>
          <p:nvPr/>
        </p:nvSpPr>
        <p:spPr>
          <a:xfrm>
            <a:off x="8016269" y="2969401"/>
            <a:ext cx="830847" cy="328062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未出库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72" name="矩形 271">
            <a:extLst>
              <a:ext uri="{FF2B5EF4-FFF2-40B4-BE49-F238E27FC236}">
                <a16:creationId xmlns:a16="http://schemas.microsoft.com/office/drawing/2014/main" id="{10A71240-23F9-4D22-5BAB-B93AB9B4DE1D}"/>
              </a:ext>
            </a:extLst>
          </p:cNvPr>
          <p:cNvSpPr/>
          <p:nvPr/>
        </p:nvSpPr>
        <p:spPr>
          <a:xfrm>
            <a:off x="8016269" y="3340094"/>
            <a:ext cx="830847" cy="328062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未入库</a:t>
            </a:r>
          </a:p>
        </p:txBody>
      </p:sp>
      <p:sp>
        <p:nvSpPr>
          <p:cNvPr id="273" name="矩形 272">
            <a:extLst>
              <a:ext uri="{FF2B5EF4-FFF2-40B4-BE49-F238E27FC236}">
                <a16:creationId xmlns:a16="http://schemas.microsoft.com/office/drawing/2014/main" id="{1948E023-1757-3666-4548-99A19AA78354}"/>
              </a:ext>
            </a:extLst>
          </p:cNvPr>
          <p:cNvSpPr/>
          <p:nvPr/>
        </p:nvSpPr>
        <p:spPr>
          <a:xfrm>
            <a:off x="8016269" y="3710788"/>
            <a:ext cx="830847" cy="328062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折扣审批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74" name="矩形 273">
            <a:extLst>
              <a:ext uri="{FF2B5EF4-FFF2-40B4-BE49-F238E27FC236}">
                <a16:creationId xmlns:a16="http://schemas.microsoft.com/office/drawing/2014/main" id="{7028C993-3687-7BBA-9478-980B1E2F5BCB}"/>
              </a:ext>
            </a:extLst>
          </p:cNvPr>
          <p:cNvSpPr/>
          <p:nvPr/>
        </p:nvSpPr>
        <p:spPr>
          <a:xfrm>
            <a:off x="8016269" y="4081482"/>
            <a:ext cx="830847" cy="328062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调拨审批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75" name="矩形 274">
            <a:extLst>
              <a:ext uri="{FF2B5EF4-FFF2-40B4-BE49-F238E27FC236}">
                <a16:creationId xmlns:a16="http://schemas.microsoft.com/office/drawing/2014/main" id="{29CC6E33-0FB7-E9FB-9708-75FDC7BF7F72}"/>
              </a:ext>
            </a:extLst>
          </p:cNvPr>
          <p:cNvSpPr/>
          <p:nvPr/>
        </p:nvSpPr>
        <p:spPr>
          <a:xfrm>
            <a:off x="8016269" y="4452175"/>
            <a:ext cx="830847" cy="328062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盘点审批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76" name="矩形 275">
            <a:extLst>
              <a:ext uri="{FF2B5EF4-FFF2-40B4-BE49-F238E27FC236}">
                <a16:creationId xmlns:a16="http://schemas.microsoft.com/office/drawing/2014/main" id="{8094E1AA-553E-4D50-961A-ED6918ABBE51}"/>
              </a:ext>
            </a:extLst>
          </p:cNvPr>
          <p:cNvSpPr/>
          <p:nvPr/>
        </p:nvSpPr>
        <p:spPr>
          <a:xfrm>
            <a:off x="8016269" y="4822869"/>
            <a:ext cx="830847" cy="328062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退货审批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53EC5103-2B0E-4206-6D48-F247FDB76561}"/>
              </a:ext>
            </a:extLst>
          </p:cNvPr>
          <p:cNvSpPr/>
          <p:nvPr/>
        </p:nvSpPr>
        <p:spPr>
          <a:xfrm>
            <a:off x="8016269" y="5193563"/>
            <a:ext cx="830847" cy="328062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…</a:t>
            </a:r>
          </a:p>
        </p:txBody>
      </p:sp>
      <p:sp>
        <p:nvSpPr>
          <p:cNvPr id="278" name="标题 7">
            <a:extLst>
              <a:ext uri="{FF2B5EF4-FFF2-40B4-BE49-F238E27FC236}">
                <a16:creationId xmlns:a16="http://schemas.microsoft.com/office/drawing/2014/main" id="{EE5AD254-9A68-BAE5-21FD-36119A93A6B5}"/>
              </a:ext>
            </a:extLst>
          </p:cNvPr>
          <p:cNvSpPr txBox="1">
            <a:spLocks/>
          </p:cNvSpPr>
          <p:nvPr/>
        </p:nvSpPr>
        <p:spPr>
          <a:xfrm>
            <a:off x="1072004" y="489840"/>
            <a:ext cx="7348982" cy="4583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业务架构设计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79" name="文本框 278">
            <a:extLst>
              <a:ext uri="{FF2B5EF4-FFF2-40B4-BE49-F238E27FC236}">
                <a16:creationId xmlns:a16="http://schemas.microsoft.com/office/drawing/2014/main" id="{108A3C4A-122F-4E99-FB37-56ACBDDD710C}"/>
              </a:ext>
            </a:extLst>
          </p:cNvPr>
          <p:cNvSpPr txBox="1"/>
          <p:nvPr/>
        </p:nvSpPr>
        <p:spPr>
          <a:xfrm>
            <a:off x="1072003" y="182063"/>
            <a:ext cx="3338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Business  Architecture Design</a:t>
            </a:r>
            <a:endParaRPr lang="zh-CN" altLang="en-US" sz="1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274B8547-A722-ADE4-4B58-0FC7CE6012A9}"/>
              </a:ext>
            </a:extLst>
          </p:cNvPr>
          <p:cNvSpPr/>
          <p:nvPr/>
        </p:nvSpPr>
        <p:spPr>
          <a:xfrm>
            <a:off x="4671933" y="1748568"/>
            <a:ext cx="1697098" cy="3672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官网</a:t>
            </a:r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商城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61C76C6-70D1-8742-AFD4-6187AD1D2BB9}"/>
              </a:ext>
            </a:extLst>
          </p:cNvPr>
          <p:cNvSpPr/>
          <p:nvPr/>
        </p:nvSpPr>
        <p:spPr>
          <a:xfrm>
            <a:off x="6447373" y="1126542"/>
            <a:ext cx="887775" cy="53261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marL="184150" algn="ctr">
              <a:spcBef>
                <a:spcPts val="100"/>
              </a:spcBef>
            </a:pPr>
            <a:endParaRPr lang="en-US" altLang="zh-CN" sz="11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7" name="文本框 69">
            <a:extLst>
              <a:ext uri="{FF2B5EF4-FFF2-40B4-BE49-F238E27FC236}">
                <a16:creationId xmlns:a16="http://schemas.microsoft.com/office/drawing/2014/main" id="{E8CF18A4-0AEE-B20B-9AD1-6AD0D8A5D1FA}"/>
              </a:ext>
            </a:extLst>
          </p:cNvPr>
          <p:cNvSpPr txBox="1"/>
          <p:nvPr/>
        </p:nvSpPr>
        <p:spPr>
          <a:xfrm>
            <a:off x="6449540" y="1174773"/>
            <a:ext cx="814535" cy="1481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>
            <a:defPPr>
              <a:defRPr lang="zh-CN"/>
            </a:defPPr>
            <a:lvl1pPr marL="184150" algn="ctr">
              <a:spcBef>
                <a:spcPts val="100"/>
              </a:spcBef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1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即时零售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42E476-DE13-A81A-1451-654D0A5E7FEB}"/>
              </a:ext>
            </a:extLst>
          </p:cNvPr>
          <p:cNvSpPr/>
          <p:nvPr/>
        </p:nvSpPr>
        <p:spPr>
          <a:xfrm>
            <a:off x="6587417" y="1396992"/>
            <a:ext cx="612000" cy="197065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京东到家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20FAFBC-4205-8F25-F51A-15054E55ACAF}"/>
              </a:ext>
            </a:extLst>
          </p:cNvPr>
          <p:cNvSpPr/>
          <p:nvPr/>
        </p:nvSpPr>
        <p:spPr>
          <a:xfrm>
            <a:off x="2312922" y="5715583"/>
            <a:ext cx="640153" cy="4176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订单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05C5F851-C3B4-F7ED-E0DE-49D7D052A3DA}"/>
              </a:ext>
            </a:extLst>
          </p:cNvPr>
          <p:cNvSpPr/>
          <p:nvPr/>
        </p:nvSpPr>
        <p:spPr>
          <a:xfrm>
            <a:off x="3041617" y="5715583"/>
            <a:ext cx="654521" cy="4176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库存</a:t>
            </a: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E92DB5F9-2377-12BD-4F88-12EF8968F1B5}"/>
              </a:ext>
            </a:extLst>
          </p:cNvPr>
          <p:cNvSpPr/>
          <p:nvPr/>
        </p:nvSpPr>
        <p:spPr>
          <a:xfrm>
            <a:off x="3778327" y="5715583"/>
            <a:ext cx="654521" cy="4176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商品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69534F77-2791-B669-69DB-526FC3F66985}"/>
              </a:ext>
            </a:extLst>
          </p:cNvPr>
          <p:cNvSpPr/>
          <p:nvPr/>
        </p:nvSpPr>
        <p:spPr>
          <a:xfrm>
            <a:off x="4518014" y="5715583"/>
            <a:ext cx="654521" cy="4176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用户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DFA9DBB9-5BFB-6899-0E3D-6EDA514140C3}"/>
              </a:ext>
            </a:extLst>
          </p:cNvPr>
          <p:cNvSpPr/>
          <p:nvPr/>
        </p:nvSpPr>
        <p:spPr>
          <a:xfrm>
            <a:off x="5257701" y="5715583"/>
            <a:ext cx="654521" cy="4176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价格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D0EEEBA8-3A05-68E3-B5AF-7338DEADF83B}"/>
              </a:ext>
            </a:extLst>
          </p:cNvPr>
          <p:cNvSpPr/>
          <p:nvPr/>
        </p:nvSpPr>
        <p:spPr>
          <a:xfrm>
            <a:off x="5997388" y="5715583"/>
            <a:ext cx="654521" cy="4176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发票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B9CF2727-9D75-EA65-3792-E14FE8EC59AB}"/>
              </a:ext>
            </a:extLst>
          </p:cNvPr>
          <p:cNvSpPr/>
          <p:nvPr/>
        </p:nvSpPr>
        <p:spPr>
          <a:xfrm>
            <a:off x="6737075" y="5715583"/>
            <a:ext cx="654521" cy="4176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门店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E5309853-234A-90F5-0D1B-9503D75E2E2B}"/>
              </a:ext>
            </a:extLst>
          </p:cNvPr>
          <p:cNvSpPr/>
          <p:nvPr/>
        </p:nvSpPr>
        <p:spPr>
          <a:xfrm>
            <a:off x="7476762" y="5715583"/>
            <a:ext cx="654521" cy="4176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券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4E726319-4FED-E045-DC4F-1E6F740F26F8}"/>
              </a:ext>
            </a:extLst>
          </p:cNvPr>
          <p:cNvSpPr/>
          <p:nvPr/>
        </p:nvSpPr>
        <p:spPr>
          <a:xfrm>
            <a:off x="8216449" y="5715583"/>
            <a:ext cx="676263" cy="417600"/>
          </a:xfrm>
          <a:prstGeom prst="rect">
            <a:avLst/>
          </a:prstGeom>
          <a:solidFill>
            <a:srgbClr val="4472C4">
              <a:alpha val="58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支付方式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EB9F65-3801-254C-DE98-0D9C7CE6FE27}"/>
              </a:ext>
            </a:extLst>
          </p:cNvPr>
          <p:cNvSpPr/>
          <p:nvPr/>
        </p:nvSpPr>
        <p:spPr>
          <a:xfrm>
            <a:off x="7417866" y="1126542"/>
            <a:ext cx="1474846" cy="53261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marL="184150" algn="ctr">
              <a:spcBef>
                <a:spcPts val="100"/>
              </a:spcBef>
            </a:pPr>
            <a:endParaRPr lang="en-US" altLang="zh-CN" sz="11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517613F-8B00-33D8-C693-937E328488F3}"/>
              </a:ext>
            </a:extLst>
          </p:cNvPr>
          <p:cNvSpPr/>
          <p:nvPr/>
        </p:nvSpPr>
        <p:spPr>
          <a:xfrm>
            <a:off x="8195275" y="1396992"/>
            <a:ext cx="612000" cy="197065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…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344A66C-9E3E-201F-D739-F4796015C50B}"/>
              </a:ext>
            </a:extLst>
          </p:cNvPr>
          <p:cNvSpPr/>
          <p:nvPr/>
        </p:nvSpPr>
        <p:spPr>
          <a:xfrm>
            <a:off x="7511301" y="1405806"/>
            <a:ext cx="612000" cy="197065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抖音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7" name="文本框 69">
            <a:extLst>
              <a:ext uri="{FF2B5EF4-FFF2-40B4-BE49-F238E27FC236}">
                <a16:creationId xmlns:a16="http://schemas.microsoft.com/office/drawing/2014/main" id="{7A6A71E7-75F9-7AFC-06C3-4D1FA9C6B3FD}"/>
              </a:ext>
            </a:extLst>
          </p:cNvPr>
          <p:cNvSpPr txBox="1"/>
          <p:nvPr/>
        </p:nvSpPr>
        <p:spPr>
          <a:xfrm>
            <a:off x="7421255" y="1169189"/>
            <a:ext cx="1317667" cy="1481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>
            <a:defPPr>
              <a:defRPr lang="zh-CN"/>
            </a:defPPr>
            <a:lvl1pPr marL="184150" algn="ctr">
              <a:spcBef>
                <a:spcPts val="100"/>
              </a:spcBef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1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三方电商</a:t>
            </a:r>
          </a:p>
        </p:txBody>
      </p:sp>
      <p:sp>
        <p:nvSpPr>
          <p:cNvPr id="14" name="流程 93">
            <a:extLst>
              <a:ext uri="{FF2B5EF4-FFF2-40B4-BE49-F238E27FC236}">
                <a16:creationId xmlns:a16="http://schemas.microsoft.com/office/drawing/2014/main" id="{DE1792E5-9049-5988-651B-3900D8651116}"/>
              </a:ext>
            </a:extLst>
          </p:cNvPr>
          <p:cNvSpPr/>
          <p:nvPr/>
        </p:nvSpPr>
        <p:spPr>
          <a:xfrm>
            <a:off x="3907335" y="3754783"/>
            <a:ext cx="1512496" cy="690704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t" anchorCtr="0"/>
          <a:lstStyle/>
          <a:p>
            <a:pPr marL="184150" algn="ctr">
              <a:spcBef>
                <a:spcPts val="100"/>
              </a:spcBef>
            </a:pPr>
            <a:r>
              <a:rPr lang="zh-CN" altLang="en-US" sz="10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门店中心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3851161-D9DA-83EE-1DA9-9F1E5809536C}"/>
              </a:ext>
            </a:extLst>
          </p:cNvPr>
          <p:cNvSpPr/>
          <p:nvPr/>
        </p:nvSpPr>
        <p:spPr>
          <a:xfrm>
            <a:off x="3974874" y="4081883"/>
            <a:ext cx="648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线下门店管理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A08CBE-B884-9A56-0F13-C647DAD07A79}"/>
              </a:ext>
            </a:extLst>
          </p:cNvPr>
          <p:cNvSpPr/>
          <p:nvPr/>
        </p:nvSpPr>
        <p:spPr>
          <a:xfrm>
            <a:off x="4681104" y="4080456"/>
            <a:ext cx="648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线上店铺管理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5" name="流程 93">
            <a:extLst>
              <a:ext uri="{FF2B5EF4-FFF2-40B4-BE49-F238E27FC236}">
                <a16:creationId xmlns:a16="http://schemas.microsoft.com/office/drawing/2014/main" id="{56D5FA48-66FD-8C5F-9167-143B4E19B8CA}"/>
              </a:ext>
            </a:extLst>
          </p:cNvPr>
          <p:cNvSpPr/>
          <p:nvPr/>
        </p:nvSpPr>
        <p:spPr>
          <a:xfrm>
            <a:off x="2307395" y="5323211"/>
            <a:ext cx="3107665" cy="314689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endParaRPr kumimoji="1" lang="zh-CN" altLang="en-US" sz="1000" dirty="0">
              <a:solidFill>
                <a:schemeClr val="tx1">
                  <a:lumMod val="95000"/>
                  <a:lumOff val="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9" name="文本框 69">
            <a:extLst>
              <a:ext uri="{FF2B5EF4-FFF2-40B4-BE49-F238E27FC236}">
                <a16:creationId xmlns:a16="http://schemas.microsoft.com/office/drawing/2014/main" id="{D494A3F4-939E-C661-C90B-9938D9E3654C}"/>
              </a:ext>
            </a:extLst>
          </p:cNvPr>
          <p:cNvSpPr txBox="1"/>
          <p:nvPr/>
        </p:nvSpPr>
        <p:spPr>
          <a:xfrm>
            <a:off x="2249998" y="5342979"/>
            <a:ext cx="619068" cy="3180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>
            <a:defPPr>
              <a:defRPr lang="zh-CN"/>
            </a:defPPr>
            <a:lvl1pPr marL="184150" algn="ctr">
              <a:spcBef>
                <a:spcPts val="100"/>
              </a:spcBef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800" dirty="0"/>
              <a:t>参数</a:t>
            </a:r>
            <a:endParaRPr lang="en-US" altLang="zh-CN" sz="800" dirty="0"/>
          </a:p>
          <a:p>
            <a:r>
              <a:rPr lang="zh-CN" altLang="en-US" sz="800" dirty="0"/>
              <a:t>设置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6CC2E9-D445-8878-8552-FB2C98882D21}"/>
              </a:ext>
            </a:extLst>
          </p:cNvPr>
          <p:cNvSpPr/>
          <p:nvPr/>
        </p:nvSpPr>
        <p:spPr>
          <a:xfrm>
            <a:off x="2944115" y="5372556"/>
            <a:ext cx="794117" cy="21600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渠道参数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62D56C-69F2-CC83-110A-CAA316B33EAE}"/>
              </a:ext>
            </a:extLst>
          </p:cNvPr>
          <p:cNvSpPr/>
          <p:nvPr/>
        </p:nvSpPr>
        <p:spPr>
          <a:xfrm>
            <a:off x="3821114" y="5372556"/>
            <a:ext cx="794117" cy="21600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支付方式参数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0020DE9-FE00-63FC-29F9-CE446F75B1D9}"/>
              </a:ext>
            </a:extLst>
          </p:cNvPr>
          <p:cNvSpPr/>
          <p:nvPr/>
        </p:nvSpPr>
        <p:spPr>
          <a:xfrm>
            <a:off x="4699224" y="5372555"/>
            <a:ext cx="558477" cy="21600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…..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02" name="流程 93">
            <a:extLst>
              <a:ext uri="{FF2B5EF4-FFF2-40B4-BE49-F238E27FC236}">
                <a16:creationId xmlns:a16="http://schemas.microsoft.com/office/drawing/2014/main" id="{E8AD9FCA-D96D-A264-9D2D-9DFE2E489B79}"/>
              </a:ext>
            </a:extLst>
          </p:cNvPr>
          <p:cNvSpPr/>
          <p:nvPr/>
        </p:nvSpPr>
        <p:spPr>
          <a:xfrm>
            <a:off x="3907335" y="4523647"/>
            <a:ext cx="1512496" cy="713969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kumimoji="1"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订单中心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D9901881-041D-FE04-8029-4D4F0EC0C36D}"/>
              </a:ext>
            </a:extLst>
          </p:cNvPr>
          <p:cNvSpPr/>
          <p:nvPr/>
        </p:nvSpPr>
        <p:spPr>
          <a:xfrm>
            <a:off x="3988125" y="4766750"/>
            <a:ext cx="648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订单管理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890DB2C1-B068-DD09-33D7-A7737B6FBE69}"/>
              </a:ext>
            </a:extLst>
          </p:cNvPr>
          <p:cNvSpPr/>
          <p:nvPr/>
        </p:nvSpPr>
        <p:spPr>
          <a:xfrm>
            <a:off x="3988125" y="4996975"/>
            <a:ext cx="648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发票管理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1AE04C6-CB8F-5E71-A3C3-CE14E0386D66}"/>
              </a:ext>
            </a:extLst>
          </p:cNvPr>
          <p:cNvSpPr/>
          <p:nvPr/>
        </p:nvSpPr>
        <p:spPr>
          <a:xfrm>
            <a:off x="4683900" y="4766750"/>
            <a:ext cx="648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售后管理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63" name="流程 93">
            <a:extLst>
              <a:ext uri="{FF2B5EF4-FFF2-40B4-BE49-F238E27FC236}">
                <a16:creationId xmlns:a16="http://schemas.microsoft.com/office/drawing/2014/main" id="{1E10C2F9-4046-3DF0-C27C-36FE3D8BFA80}"/>
              </a:ext>
            </a:extLst>
          </p:cNvPr>
          <p:cNvSpPr/>
          <p:nvPr/>
        </p:nvSpPr>
        <p:spPr>
          <a:xfrm>
            <a:off x="5506988" y="4523647"/>
            <a:ext cx="1152000" cy="713969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kumimoji="1"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价格中心</a:t>
            </a: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932B9314-370D-9450-0B07-36840AE1BC9A}"/>
              </a:ext>
            </a:extLst>
          </p:cNvPr>
          <p:cNvSpPr/>
          <p:nvPr/>
        </p:nvSpPr>
        <p:spPr>
          <a:xfrm>
            <a:off x="5759798" y="4756733"/>
            <a:ext cx="648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商品定价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32003CB-21B6-BF41-5261-19767C66211A}"/>
              </a:ext>
            </a:extLst>
          </p:cNvPr>
          <p:cNvSpPr/>
          <p:nvPr/>
        </p:nvSpPr>
        <p:spPr>
          <a:xfrm>
            <a:off x="5759798" y="4990646"/>
            <a:ext cx="648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价格查询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34" name="流程 93">
            <a:extLst>
              <a:ext uri="{FF2B5EF4-FFF2-40B4-BE49-F238E27FC236}">
                <a16:creationId xmlns:a16="http://schemas.microsoft.com/office/drawing/2014/main" id="{665949AB-B981-386F-45F8-E15D96C0C2CB}"/>
              </a:ext>
            </a:extLst>
          </p:cNvPr>
          <p:cNvSpPr/>
          <p:nvPr/>
        </p:nvSpPr>
        <p:spPr>
          <a:xfrm>
            <a:off x="5506988" y="3754783"/>
            <a:ext cx="1152000" cy="690704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kumimoji="1"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商品中心</a:t>
            </a: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D3ACFADD-1F95-4BD1-7894-EAFA05913618}"/>
              </a:ext>
            </a:extLst>
          </p:cNvPr>
          <p:cNvSpPr/>
          <p:nvPr/>
        </p:nvSpPr>
        <p:spPr>
          <a:xfrm>
            <a:off x="5763956" y="4014603"/>
            <a:ext cx="612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商品同步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0E7E1C7-781C-BD2A-86B4-9C7EADA12B3D}"/>
              </a:ext>
            </a:extLst>
          </p:cNvPr>
          <p:cNvSpPr/>
          <p:nvPr/>
        </p:nvSpPr>
        <p:spPr>
          <a:xfrm>
            <a:off x="5763956" y="4257070"/>
            <a:ext cx="612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商品查询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98" name="流程 93">
            <a:extLst>
              <a:ext uri="{FF2B5EF4-FFF2-40B4-BE49-F238E27FC236}">
                <a16:creationId xmlns:a16="http://schemas.microsoft.com/office/drawing/2014/main" id="{23AE4E25-DAEE-E75F-296F-15F2720DDA9D}"/>
              </a:ext>
            </a:extLst>
          </p:cNvPr>
          <p:cNvSpPr/>
          <p:nvPr/>
        </p:nvSpPr>
        <p:spPr>
          <a:xfrm>
            <a:off x="2303892" y="3044534"/>
            <a:ext cx="5570012" cy="633324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endParaRPr kumimoji="1" lang="zh-CN" altLang="en-US" sz="1000" dirty="0">
              <a:solidFill>
                <a:schemeClr val="tx1">
                  <a:lumMod val="95000"/>
                  <a:lumOff val="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0D422943-C75F-6E68-BACE-1BF12D583AA9}"/>
              </a:ext>
            </a:extLst>
          </p:cNvPr>
          <p:cNvSpPr/>
          <p:nvPr/>
        </p:nvSpPr>
        <p:spPr>
          <a:xfrm>
            <a:off x="2589195" y="3387831"/>
            <a:ext cx="828000" cy="210839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门店管理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B422F333-FE14-C8AB-18D7-FA9403D29FF9}"/>
              </a:ext>
            </a:extLst>
          </p:cNvPr>
          <p:cNvSpPr/>
          <p:nvPr/>
        </p:nvSpPr>
        <p:spPr>
          <a:xfrm>
            <a:off x="3582795" y="3387831"/>
            <a:ext cx="828000" cy="210839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订单管理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7C90EE3E-1FE7-23B8-450F-13C796B0839D}"/>
              </a:ext>
            </a:extLst>
          </p:cNvPr>
          <p:cNvSpPr/>
          <p:nvPr/>
        </p:nvSpPr>
        <p:spPr>
          <a:xfrm>
            <a:off x="4576395" y="3387831"/>
            <a:ext cx="828000" cy="210839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调拨管理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05D94AA6-9917-0F8D-DD20-2416DACFFA5E}"/>
              </a:ext>
            </a:extLst>
          </p:cNvPr>
          <p:cNvSpPr/>
          <p:nvPr/>
        </p:nvSpPr>
        <p:spPr>
          <a:xfrm>
            <a:off x="5569995" y="3387831"/>
            <a:ext cx="828000" cy="210839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库存管理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E758142D-9AA6-AA2D-B87C-E0A8E634E921}"/>
              </a:ext>
            </a:extLst>
          </p:cNvPr>
          <p:cNvSpPr/>
          <p:nvPr/>
        </p:nvSpPr>
        <p:spPr>
          <a:xfrm>
            <a:off x="6563596" y="3387831"/>
            <a:ext cx="828000" cy="210839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…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FC64920-FD0E-650F-D8A1-06770D01DA91}"/>
              </a:ext>
            </a:extLst>
          </p:cNvPr>
          <p:cNvSpPr txBox="1"/>
          <p:nvPr/>
        </p:nvSpPr>
        <p:spPr>
          <a:xfrm>
            <a:off x="4354628" y="3053437"/>
            <a:ext cx="12582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品牌业务层</a:t>
            </a:r>
          </a:p>
        </p:txBody>
      </p:sp>
      <p:pic>
        <p:nvPicPr>
          <p:cNvPr id="26" name="图形 60" descr="笔记本电脑">
            <a:extLst>
              <a:ext uri="{FF2B5EF4-FFF2-40B4-BE49-F238E27FC236}">
                <a16:creationId xmlns:a16="http://schemas.microsoft.com/office/drawing/2014/main" id="{54F4C04D-B5F1-0D45-C849-A6F180FBD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8456" y="1179698"/>
            <a:ext cx="404241" cy="404241"/>
          </a:xfrm>
          <a:prstGeom prst="rect">
            <a:avLst/>
          </a:prstGeom>
        </p:spPr>
      </p:pic>
      <p:pic>
        <p:nvPicPr>
          <p:cNvPr id="39" name="图形 63" descr="平板电脑">
            <a:extLst>
              <a:ext uri="{FF2B5EF4-FFF2-40B4-BE49-F238E27FC236}">
                <a16:creationId xmlns:a16="http://schemas.microsoft.com/office/drawing/2014/main" id="{65997C8C-10A1-4097-9171-952DA1D4D2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4926" b="17001"/>
          <a:stretch/>
        </p:blipFill>
        <p:spPr>
          <a:xfrm>
            <a:off x="4180959" y="1233390"/>
            <a:ext cx="434366" cy="295686"/>
          </a:xfrm>
          <a:prstGeom prst="rect">
            <a:avLst/>
          </a:prstGeom>
        </p:spPr>
      </p:pic>
      <p:pic>
        <p:nvPicPr>
          <p:cNvPr id="40" name="图形 68" descr="智能手机">
            <a:extLst>
              <a:ext uri="{FF2B5EF4-FFF2-40B4-BE49-F238E27FC236}">
                <a16:creationId xmlns:a16="http://schemas.microsoft.com/office/drawing/2014/main" id="{B0A3E7F3-9C86-D10F-D5CD-EBF28D87B5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03387" y="1252222"/>
            <a:ext cx="280713" cy="280713"/>
          </a:xfrm>
          <a:prstGeom prst="rect">
            <a:avLst/>
          </a:prstGeom>
        </p:spPr>
      </p:pic>
      <p:sp>
        <p:nvSpPr>
          <p:cNvPr id="41" name="文本框 70">
            <a:extLst>
              <a:ext uri="{FF2B5EF4-FFF2-40B4-BE49-F238E27FC236}">
                <a16:creationId xmlns:a16="http://schemas.microsoft.com/office/drawing/2014/main" id="{24AD4891-1746-4E97-ECE2-5AB69DCF5C29}"/>
              </a:ext>
            </a:extLst>
          </p:cNvPr>
          <p:cNvSpPr txBox="1"/>
          <p:nvPr/>
        </p:nvSpPr>
        <p:spPr>
          <a:xfrm>
            <a:off x="2166767" y="1287814"/>
            <a:ext cx="870954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>
            <a:defPPr>
              <a:defRPr lang="zh-CN"/>
            </a:defPPr>
            <a:lvl1pPr marL="184150" algn="ctr">
              <a:spcBef>
                <a:spcPts val="100"/>
              </a:spcBef>
              <a:defRPr sz="1100"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展示端</a:t>
            </a:r>
          </a:p>
        </p:txBody>
      </p:sp>
      <p:sp>
        <p:nvSpPr>
          <p:cNvPr id="4" name="流程 93">
            <a:extLst>
              <a:ext uri="{FF2B5EF4-FFF2-40B4-BE49-F238E27FC236}">
                <a16:creationId xmlns:a16="http://schemas.microsoft.com/office/drawing/2014/main" id="{6A86A837-8770-8C82-539E-C5EC74958974}"/>
              </a:ext>
            </a:extLst>
          </p:cNvPr>
          <p:cNvSpPr/>
          <p:nvPr/>
        </p:nvSpPr>
        <p:spPr>
          <a:xfrm>
            <a:off x="6736023" y="4523647"/>
            <a:ext cx="1137881" cy="713969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kumimoji="1"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审批中心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5F0663A-0814-D512-CC94-E18435F4BE37}"/>
              </a:ext>
            </a:extLst>
          </p:cNvPr>
          <p:cNvSpPr/>
          <p:nvPr/>
        </p:nvSpPr>
        <p:spPr>
          <a:xfrm>
            <a:off x="6988833" y="4756733"/>
            <a:ext cx="648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运营审批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E4DC7D1-683E-DAD1-974B-4D1D239783A3}"/>
              </a:ext>
            </a:extLst>
          </p:cNvPr>
          <p:cNvSpPr/>
          <p:nvPr/>
        </p:nvSpPr>
        <p:spPr>
          <a:xfrm>
            <a:off x="6988833" y="4990646"/>
            <a:ext cx="648000" cy="16945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事前审批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34" name="流程 93">
            <a:extLst>
              <a:ext uri="{FF2B5EF4-FFF2-40B4-BE49-F238E27FC236}">
                <a16:creationId xmlns:a16="http://schemas.microsoft.com/office/drawing/2014/main" id="{76A8C638-ED87-BCEB-F7D8-5AAFD80DB0F4}"/>
              </a:ext>
            </a:extLst>
          </p:cNvPr>
          <p:cNvSpPr/>
          <p:nvPr/>
        </p:nvSpPr>
        <p:spPr>
          <a:xfrm>
            <a:off x="5507089" y="5318266"/>
            <a:ext cx="2366816" cy="314689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endParaRPr kumimoji="1" lang="zh-CN" altLang="en-US" sz="1000" dirty="0">
              <a:solidFill>
                <a:schemeClr val="tx1">
                  <a:lumMod val="95000"/>
                  <a:lumOff val="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35" name="文本框 69">
            <a:extLst>
              <a:ext uri="{FF2B5EF4-FFF2-40B4-BE49-F238E27FC236}">
                <a16:creationId xmlns:a16="http://schemas.microsoft.com/office/drawing/2014/main" id="{0AA97639-0736-5852-3ECB-05C8190BD15A}"/>
              </a:ext>
            </a:extLst>
          </p:cNvPr>
          <p:cNvSpPr txBox="1"/>
          <p:nvPr/>
        </p:nvSpPr>
        <p:spPr>
          <a:xfrm>
            <a:off x="5449691" y="5338034"/>
            <a:ext cx="619068" cy="3180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>
            <a:defPPr>
              <a:defRPr lang="zh-CN"/>
            </a:defPPr>
            <a:lvl1pPr marL="184150" algn="ctr">
              <a:spcBef>
                <a:spcPts val="100"/>
              </a:spcBef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800" dirty="0"/>
              <a:t>策略</a:t>
            </a:r>
            <a:endParaRPr lang="en-US" altLang="zh-CN" sz="800" dirty="0"/>
          </a:p>
          <a:p>
            <a:r>
              <a:rPr lang="zh-CN" altLang="en-US" sz="800" dirty="0"/>
              <a:t>管理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4770791-A37D-120C-C670-22F5C765B95D}"/>
              </a:ext>
            </a:extLst>
          </p:cNvPr>
          <p:cNvSpPr/>
          <p:nvPr/>
        </p:nvSpPr>
        <p:spPr>
          <a:xfrm>
            <a:off x="6143808" y="5367611"/>
            <a:ext cx="794117" cy="21600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权重设置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FD8F8ED-021C-DC9F-F1F4-389F067ECFAD}"/>
              </a:ext>
            </a:extLst>
          </p:cNvPr>
          <p:cNvSpPr/>
          <p:nvPr/>
        </p:nvSpPr>
        <p:spPr>
          <a:xfrm>
            <a:off x="7020807" y="5367611"/>
            <a:ext cx="794117" cy="216000"/>
          </a:xfrm>
          <a:prstGeom prst="rect">
            <a:avLst/>
          </a:prstGeom>
          <a:solidFill>
            <a:srgbClr val="4472C4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优先级</a:t>
            </a:r>
            <a:endParaRPr kumimoji="1" lang="en-US" altLang="zh-CN" sz="800" dirty="0">
              <a:solidFill>
                <a:schemeClr val="bg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698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7">
            <a:extLst>
              <a:ext uri="{FF2B5EF4-FFF2-40B4-BE49-F238E27FC236}">
                <a16:creationId xmlns:a16="http://schemas.microsoft.com/office/drawing/2014/main" id="{CC8AC65F-C76B-FCBD-84C5-B0D4356CBFE2}"/>
              </a:ext>
            </a:extLst>
          </p:cNvPr>
          <p:cNvSpPr txBox="1">
            <a:spLocks/>
          </p:cNvSpPr>
          <p:nvPr/>
        </p:nvSpPr>
        <p:spPr>
          <a:xfrm>
            <a:off x="1072004" y="489840"/>
            <a:ext cx="7348982" cy="4583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功能结构图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1F6DE90-431B-7D39-0957-A7BE448485CC}"/>
              </a:ext>
            </a:extLst>
          </p:cNvPr>
          <p:cNvSpPr txBox="1"/>
          <p:nvPr/>
        </p:nvSpPr>
        <p:spPr>
          <a:xfrm>
            <a:off x="1072003" y="182063"/>
            <a:ext cx="53198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Functional Structure Diagram</a:t>
            </a:r>
            <a:endParaRPr lang="zh-CN" altLang="en-US" sz="1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13B3F42-519D-24E7-E91D-321192714710}"/>
              </a:ext>
            </a:extLst>
          </p:cNvPr>
          <p:cNvSpPr/>
          <p:nvPr/>
        </p:nvSpPr>
        <p:spPr>
          <a:xfrm>
            <a:off x="-3051" y="1130300"/>
            <a:ext cx="12955651" cy="857250"/>
          </a:xfrm>
          <a:prstGeom prst="roundRect">
            <a:avLst>
              <a:gd name="adj" fmla="val 10000"/>
            </a:avLst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6510E43-3792-7803-25A2-C9B3F6594C4F}"/>
              </a:ext>
            </a:extLst>
          </p:cNvPr>
          <p:cNvSpPr/>
          <p:nvPr/>
        </p:nvSpPr>
        <p:spPr>
          <a:xfrm>
            <a:off x="-3051" y="2102297"/>
            <a:ext cx="1110596" cy="1497706"/>
          </a:xfrm>
          <a:prstGeom prst="roundRect">
            <a:avLst>
              <a:gd name="adj" fmla="val 10000"/>
            </a:avLst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20C7B1F-0B84-334A-7C6B-F95BD9BFD1D7}"/>
              </a:ext>
            </a:extLst>
          </p:cNvPr>
          <p:cNvSpPr/>
          <p:nvPr/>
        </p:nvSpPr>
        <p:spPr>
          <a:xfrm>
            <a:off x="1200436" y="2102297"/>
            <a:ext cx="1100584" cy="1497706"/>
          </a:xfrm>
          <a:prstGeom prst="roundRect">
            <a:avLst>
              <a:gd name="adj" fmla="val 10000"/>
            </a:avLst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7CCB0A7-7ADD-0924-FD6E-B3A0433AE52B}"/>
              </a:ext>
            </a:extLst>
          </p:cNvPr>
          <p:cNvSpPr/>
          <p:nvPr/>
        </p:nvSpPr>
        <p:spPr>
          <a:xfrm>
            <a:off x="2374535" y="2102297"/>
            <a:ext cx="2304639" cy="1497706"/>
          </a:xfrm>
          <a:prstGeom prst="roundRect">
            <a:avLst>
              <a:gd name="adj" fmla="val 10000"/>
            </a:avLst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51B0201-5FB8-2936-222F-9FD19E2CA6BE}"/>
              </a:ext>
            </a:extLst>
          </p:cNvPr>
          <p:cNvSpPr/>
          <p:nvPr/>
        </p:nvSpPr>
        <p:spPr>
          <a:xfrm>
            <a:off x="4762009" y="2129611"/>
            <a:ext cx="1111451" cy="1497706"/>
          </a:xfrm>
          <a:prstGeom prst="roundRect">
            <a:avLst>
              <a:gd name="adj" fmla="val 10000"/>
            </a:avLst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C71F87A-CE2D-BF22-857E-9FDDCF6E187A}"/>
              </a:ext>
            </a:extLst>
          </p:cNvPr>
          <p:cNvSpPr/>
          <p:nvPr/>
        </p:nvSpPr>
        <p:spPr>
          <a:xfrm>
            <a:off x="5964168" y="2129614"/>
            <a:ext cx="518892" cy="1497706"/>
          </a:xfrm>
          <a:prstGeom prst="roundRect">
            <a:avLst>
              <a:gd name="adj" fmla="val 10000"/>
            </a:avLst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D0D6510-228E-91B9-70CF-39B65C181361}"/>
              </a:ext>
            </a:extLst>
          </p:cNvPr>
          <p:cNvSpPr/>
          <p:nvPr/>
        </p:nvSpPr>
        <p:spPr>
          <a:xfrm>
            <a:off x="6561366" y="2141188"/>
            <a:ext cx="514613" cy="1497706"/>
          </a:xfrm>
          <a:prstGeom prst="roundRect">
            <a:avLst>
              <a:gd name="adj" fmla="val 10000"/>
            </a:avLst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23CDB3D-3C77-4910-917F-4FC4D2B03CF5}"/>
              </a:ext>
            </a:extLst>
          </p:cNvPr>
          <p:cNvSpPr/>
          <p:nvPr/>
        </p:nvSpPr>
        <p:spPr>
          <a:xfrm>
            <a:off x="7153868" y="2129614"/>
            <a:ext cx="1688890" cy="1497706"/>
          </a:xfrm>
          <a:prstGeom prst="roundRect">
            <a:avLst>
              <a:gd name="adj" fmla="val 10000"/>
            </a:avLst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D3863A3-7E7C-131D-2BB8-E37734107A19}"/>
              </a:ext>
            </a:extLst>
          </p:cNvPr>
          <p:cNvSpPr/>
          <p:nvPr/>
        </p:nvSpPr>
        <p:spPr>
          <a:xfrm>
            <a:off x="8920647" y="2139667"/>
            <a:ext cx="512987" cy="1497706"/>
          </a:xfrm>
          <a:prstGeom prst="roundRect">
            <a:avLst>
              <a:gd name="adj" fmla="val 10000"/>
            </a:avLst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B5761BE-EF38-CAA2-51E6-611B1D71BF57}"/>
              </a:ext>
            </a:extLst>
          </p:cNvPr>
          <p:cNvSpPr/>
          <p:nvPr/>
        </p:nvSpPr>
        <p:spPr>
          <a:xfrm>
            <a:off x="9504320" y="2129614"/>
            <a:ext cx="1694681" cy="1497706"/>
          </a:xfrm>
          <a:prstGeom prst="roundRect">
            <a:avLst>
              <a:gd name="adj" fmla="val 10000"/>
            </a:avLst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9ABCC6F-CA6E-0C30-CFAE-7B352248859D}"/>
              </a:ext>
            </a:extLst>
          </p:cNvPr>
          <p:cNvSpPr/>
          <p:nvPr/>
        </p:nvSpPr>
        <p:spPr>
          <a:xfrm>
            <a:off x="11269686" y="2129614"/>
            <a:ext cx="1103848" cy="1497706"/>
          </a:xfrm>
          <a:prstGeom prst="roundRect">
            <a:avLst>
              <a:gd name="adj" fmla="val 10000"/>
            </a:avLst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370E543-62FB-2222-7881-9D4223C494E2}"/>
              </a:ext>
            </a:extLst>
          </p:cNvPr>
          <p:cNvSpPr/>
          <p:nvPr/>
        </p:nvSpPr>
        <p:spPr>
          <a:xfrm>
            <a:off x="12436019" y="2129614"/>
            <a:ext cx="516582" cy="1497706"/>
          </a:xfrm>
          <a:prstGeom prst="roundRect">
            <a:avLst>
              <a:gd name="adj" fmla="val 10000"/>
            </a:avLst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B52ADF2-DA82-3B1B-71EF-CEE17890A135}"/>
              </a:ext>
            </a:extLst>
          </p:cNvPr>
          <p:cNvSpPr txBox="1"/>
          <p:nvPr/>
        </p:nvSpPr>
        <p:spPr>
          <a:xfrm>
            <a:off x="12436019" y="2333718"/>
            <a:ext cx="461665" cy="10894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审批中心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BFD0BCF-755B-602B-36AD-6D166B5C5E65}"/>
              </a:ext>
            </a:extLst>
          </p:cNvPr>
          <p:cNvSpPr txBox="1"/>
          <p:nvPr/>
        </p:nvSpPr>
        <p:spPr>
          <a:xfrm>
            <a:off x="11555435" y="2333718"/>
            <a:ext cx="461665" cy="10894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系统管理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69CEDDE-BCC9-422A-DA0D-DC2C07FBFC3C}"/>
              </a:ext>
            </a:extLst>
          </p:cNvPr>
          <p:cNvSpPr txBox="1"/>
          <p:nvPr/>
        </p:nvSpPr>
        <p:spPr>
          <a:xfrm>
            <a:off x="10197964" y="2333718"/>
            <a:ext cx="461665" cy="10894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库存中心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82127BC-B69D-4C2F-98C4-87E8DE97F17B}"/>
              </a:ext>
            </a:extLst>
          </p:cNvPr>
          <p:cNvSpPr txBox="1"/>
          <p:nvPr/>
        </p:nvSpPr>
        <p:spPr>
          <a:xfrm>
            <a:off x="8928713" y="2343771"/>
            <a:ext cx="461665" cy="10894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价格中心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6F66207-A320-9239-A9FF-97E8FF56134D}"/>
              </a:ext>
            </a:extLst>
          </p:cNvPr>
          <p:cNvSpPr txBox="1"/>
          <p:nvPr/>
        </p:nvSpPr>
        <p:spPr>
          <a:xfrm>
            <a:off x="7815228" y="2347233"/>
            <a:ext cx="461665" cy="10894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订单中心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5A15DF9-5EAF-97E5-405E-EC70134B4ABD}"/>
              </a:ext>
            </a:extLst>
          </p:cNvPr>
          <p:cNvSpPr txBox="1"/>
          <p:nvPr/>
        </p:nvSpPr>
        <p:spPr>
          <a:xfrm>
            <a:off x="6561366" y="2326465"/>
            <a:ext cx="461665" cy="10894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卡券中心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119F10A-D690-1EB8-9265-837ECEF792DB}"/>
              </a:ext>
            </a:extLst>
          </p:cNvPr>
          <p:cNvSpPr txBox="1"/>
          <p:nvPr/>
        </p:nvSpPr>
        <p:spPr>
          <a:xfrm>
            <a:off x="5964169" y="2333714"/>
            <a:ext cx="461665" cy="10894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商品中心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41E1908-E78C-5D08-93EC-0759DBADF8D2}"/>
              </a:ext>
            </a:extLst>
          </p:cNvPr>
          <p:cNvSpPr txBox="1"/>
          <p:nvPr/>
        </p:nvSpPr>
        <p:spPr>
          <a:xfrm>
            <a:off x="5079273" y="2313844"/>
            <a:ext cx="461665" cy="10894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门店中心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BB19572-4096-1786-EFD1-F42721372802}"/>
              </a:ext>
            </a:extLst>
          </p:cNvPr>
          <p:cNvSpPr txBox="1"/>
          <p:nvPr/>
        </p:nvSpPr>
        <p:spPr>
          <a:xfrm>
            <a:off x="3229360" y="2271049"/>
            <a:ext cx="461665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用户中心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9046797-B50C-BEA3-659C-68DB08E745CC}"/>
              </a:ext>
            </a:extLst>
          </p:cNvPr>
          <p:cNvSpPr txBox="1"/>
          <p:nvPr/>
        </p:nvSpPr>
        <p:spPr>
          <a:xfrm>
            <a:off x="1511926" y="2194627"/>
            <a:ext cx="461665" cy="132793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门店工作台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5FE6F3E-F965-4AC7-D9C5-C5FA7D627825}"/>
              </a:ext>
            </a:extLst>
          </p:cNvPr>
          <p:cNvSpPr txBox="1"/>
          <p:nvPr/>
        </p:nvSpPr>
        <p:spPr>
          <a:xfrm>
            <a:off x="330445" y="2313844"/>
            <a:ext cx="461665" cy="10894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通用模块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F56ABE1-5B98-E5AC-FEFF-8F91BFF85068}"/>
              </a:ext>
            </a:extLst>
          </p:cNvPr>
          <p:cNvSpPr txBox="1"/>
          <p:nvPr/>
        </p:nvSpPr>
        <p:spPr>
          <a:xfrm>
            <a:off x="4621484" y="1245047"/>
            <a:ext cx="3081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零售管理系统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98160278-A12D-FB89-0346-1AC77AD17CD3}"/>
              </a:ext>
            </a:extLst>
          </p:cNvPr>
          <p:cNvSpPr/>
          <p:nvPr/>
        </p:nvSpPr>
        <p:spPr>
          <a:xfrm>
            <a:off x="2374536" y="3735715"/>
            <a:ext cx="516582" cy="109005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BA197DC-84A3-73F3-538E-CE102656804E}"/>
              </a:ext>
            </a:extLst>
          </p:cNvPr>
          <p:cNvSpPr txBox="1"/>
          <p:nvPr/>
        </p:nvSpPr>
        <p:spPr>
          <a:xfrm>
            <a:off x="2436091" y="3904073"/>
            <a:ext cx="400110" cy="885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账号管理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89711EE-CD6B-6D88-D36D-1BD365440C81}"/>
              </a:ext>
            </a:extLst>
          </p:cNvPr>
          <p:cNvSpPr/>
          <p:nvPr/>
        </p:nvSpPr>
        <p:spPr>
          <a:xfrm>
            <a:off x="2971069" y="3726273"/>
            <a:ext cx="516582" cy="109005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72ACFAA-EEED-0AC8-604C-C05C542C1A0A}"/>
              </a:ext>
            </a:extLst>
          </p:cNvPr>
          <p:cNvSpPr txBox="1"/>
          <p:nvPr/>
        </p:nvSpPr>
        <p:spPr>
          <a:xfrm>
            <a:off x="3032624" y="3904073"/>
            <a:ext cx="400110" cy="885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组织管理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DDD2B72-141D-CE5B-7D60-485A684BC22B}"/>
              </a:ext>
            </a:extLst>
          </p:cNvPr>
          <p:cNvSpPr/>
          <p:nvPr/>
        </p:nvSpPr>
        <p:spPr>
          <a:xfrm>
            <a:off x="3563082" y="3726273"/>
            <a:ext cx="516582" cy="109005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D887324-3004-5073-50E9-90EB3903D4B6}"/>
              </a:ext>
            </a:extLst>
          </p:cNvPr>
          <p:cNvSpPr txBox="1"/>
          <p:nvPr/>
        </p:nvSpPr>
        <p:spPr>
          <a:xfrm>
            <a:off x="3624637" y="3904073"/>
            <a:ext cx="400110" cy="885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品牌管理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17E47A4D-DFCD-A1E5-DBBF-8D1790CD14CA}"/>
              </a:ext>
            </a:extLst>
          </p:cNvPr>
          <p:cNvSpPr/>
          <p:nvPr/>
        </p:nvSpPr>
        <p:spPr>
          <a:xfrm>
            <a:off x="4156634" y="3726273"/>
            <a:ext cx="516582" cy="109005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F157F4E-ED06-42DD-C244-52090C1FA203}"/>
              </a:ext>
            </a:extLst>
          </p:cNvPr>
          <p:cNvSpPr txBox="1"/>
          <p:nvPr/>
        </p:nvSpPr>
        <p:spPr>
          <a:xfrm>
            <a:off x="4218189" y="3904073"/>
            <a:ext cx="400110" cy="885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权限管理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3AE816E0-D1BD-949C-27D9-4AF788D3B3D9}"/>
              </a:ext>
            </a:extLst>
          </p:cNvPr>
          <p:cNvSpPr/>
          <p:nvPr/>
        </p:nvSpPr>
        <p:spPr>
          <a:xfrm>
            <a:off x="2374536" y="4888837"/>
            <a:ext cx="2298680" cy="518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3A1E275-CA16-9D0B-2D44-2DB949B296C0}"/>
              </a:ext>
            </a:extLst>
          </p:cNvPr>
          <p:cNvSpPr txBox="1"/>
          <p:nvPr/>
        </p:nvSpPr>
        <p:spPr>
          <a:xfrm>
            <a:off x="2830301" y="4991487"/>
            <a:ext cx="1326333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业务模块管理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5F86A0BD-1256-0BD2-ED2D-2EC13AB5F870}"/>
              </a:ext>
            </a:extLst>
          </p:cNvPr>
          <p:cNvSpPr/>
          <p:nvPr/>
        </p:nvSpPr>
        <p:spPr>
          <a:xfrm>
            <a:off x="4762010" y="37262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D62634B-DE38-4BA3-1234-A3086E92839B}"/>
              </a:ext>
            </a:extLst>
          </p:cNvPr>
          <p:cNvSpPr txBox="1"/>
          <p:nvPr/>
        </p:nvSpPr>
        <p:spPr>
          <a:xfrm>
            <a:off x="4823565" y="39040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线上门店管理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A490776D-C9AA-1FEB-6139-BB431309A8DB}"/>
              </a:ext>
            </a:extLst>
          </p:cNvPr>
          <p:cNvSpPr/>
          <p:nvPr/>
        </p:nvSpPr>
        <p:spPr>
          <a:xfrm>
            <a:off x="5356879" y="37262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F81495B-55D8-01E3-6EB7-2ECCEF7FFB83}"/>
              </a:ext>
            </a:extLst>
          </p:cNvPr>
          <p:cNvSpPr txBox="1"/>
          <p:nvPr/>
        </p:nvSpPr>
        <p:spPr>
          <a:xfrm>
            <a:off x="5418434" y="39040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线下店铺管理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9C95F3C5-FEDD-DB7C-57AB-5A3CEF01C4C6}"/>
              </a:ext>
            </a:extLst>
          </p:cNvPr>
          <p:cNvSpPr/>
          <p:nvPr/>
        </p:nvSpPr>
        <p:spPr>
          <a:xfrm>
            <a:off x="5966478" y="37262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DF036AF-EA40-A825-C985-061A374747D2}"/>
              </a:ext>
            </a:extLst>
          </p:cNvPr>
          <p:cNvSpPr txBox="1"/>
          <p:nvPr/>
        </p:nvSpPr>
        <p:spPr>
          <a:xfrm>
            <a:off x="6028033" y="39040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商品管理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FCA9108C-4569-2634-60A8-0CA290E09EB9}"/>
              </a:ext>
            </a:extLst>
          </p:cNvPr>
          <p:cNvSpPr/>
          <p:nvPr/>
        </p:nvSpPr>
        <p:spPr>
          <a:xfrm>
            <a:off x="6561366" y="37262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C080AE7-AADA-8516-F156-71458C8CD6E8}"/>
              </a:ext>
            </a:extLst>
          </p:cNvPr>
          <p:cNvSpPr txBox="1"/>
          <p:nvPr/>
        </p:nvSpPr>
        <p:spPr>
          <a:xfrm>
            <a:off x="6622921" y="39040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券管理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E432F4BD-1D7B-4624-1E6D-BAFB8DA11B84}"/>
              </a:ext>
            </a:extLst>
          </p:cNvPr>
          <p:cNvSpPr/>
          <p:nvPr/>
        </p:nvSpPr>
        <p:spPr>
          <a:xfrm>
            <a:off x="7144298" y="37262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AF43CA8-533B-5A45-E978-BDCEC00554FF}"/>
              </a:ext>
            </a:extLst>
          </p:cNvPr>
          <p:cNvSpPr txBox="1"/>
          <p:nvPr/>
        </p:nvSpPr>
        <p:spPr>
          <a:xfrm>
            <a:off x="7205853" y="39040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订单管理</a:t>
            </a: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4DA7E074-21CA-49E2-A6C5-E75CB4C4A219}"/>
              </a:ext>
            </a:extLst>
          </p:cNvPr>
          <p:cNvSpPr/>
          <p:nvPr/>
        </p:nvSpPr>
        <p:spPr>
          <a:xfrm>
            <a:off x="7726253" y="37262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00E074E-1D5F-D347-9C9C-934080C4A41F}"/>
              </a:ext>
            </a:extLst>
          </p:cNvPr>
          <p:cNvSpPr txBox="1"/>
          <p:nvPr/>
        </p:nvSpPr>
        <p:spPr>
          <a:xfrm>
            <a:off x="7787808" y="39040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售后管理</a:t>
            </a: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A54D0008-16E7-D111-5441-335BF46F0B47}"/>
              </a:ext>
            </a:extLst>
          </p:cNvPr>
          <p:cNvSpPr/>
          <p:nvPr/>
        </p:nvSpPr>
        <p:spPr>
          <a:xfrm>
            <a:off x="8326176" y="37262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941C8C89-0130-CF82-7018-9E98C0F5C9EB}"/>
              </a:ext>
            </a:extLst>
          </p:cNvPr>
          <p:cNvSpPr txBox="1"/>
          <p:nvPr/>
        </p:nvSpPr>
        <p:spPr>
          <a:xfrm>
            <a:off x="8387731" y="39040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发票管理</a:t>
            </a: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FB154537-091C-BFB6-ADEB-76F846A7C19C}"/>
              </a:ext>
            </a:extLst>
          </p:cNvPr>
          <p:cNvSpPr/>
          <p:nvPr/>
        </p:nvSpPr>
        <p:spPr>
          <a:xfrm>
            <a:off x="8920648" y="37262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7018F15-523F-148B-8FF3-CF14A9CE080C}"/>
              </a:ext>
            </a:extLst>
          </p:cNvPr>
          <p:cNvSpPr txBox="1"/>
          <p:nvPr/>
        </p:nvSpPr>
        <p:spPr>
          <a:xfrm>
            <a:off x="8982203" y="39040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价格管理</a:t>
            </a: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351E4981-150A-163D-FA4D-8A859DBE6D4E}"/>
              </a:ext>
            </a:extLst>
          </p:cNvPr>
          <p:cNvSpPr/>
          <p:nvPr/>
        </p:nvSpPr>
        <p:spPr>
          <a:xfrm>
            <a:off x="9504320" y="37262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32DD4E51-AFCB-A4ED-ABBE-F33C783051F1}"/>
              </a:ext>
            </a:extLst>
          </p:cNvPr>
          <p:cNvSpPr txBox="1"/>
          <p:nvPr/>
        </p:nvSpPr>
        <p:spPr>
          <a:xfrm>
            <a:off x="9565875" y="39040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库存管理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3D689BDF-BDE2-ABC0-CC46-1A5299CA03AE}"/>
              </a:ext>
            </a:extLst>
          </p:cNvPr>
          <p:cNvSpPr/>
          <p:nvPr/>
        </p:nvSpPr>
        <p:spPr>
          <a:xfrm>
            <a:off x="10086716" y="37262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671C1282-CB4D-CF91-AED8-E131F2F74978}"/>
              </a:ext>
            </a:extLst>
          </p:cNvPr>
          <p:cNvSpPr txBox="1"/>
          <p:nvPr/>
        </p:nvSpPr>
        <p:spPr>
          <a:xfrm>
            <a:off x="10148271" y="39040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库存盘点</a:t>
            </a: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555CF0DC-2F38-E2E4-C24A-C935DB442372}"/>
              </a:ext>
            </a:extLst>
          </p:cNvPr>
          <p:cNvSpPr/>
          <p:nvPr/>
        </p:nvSpPr>
        <p:spPr>
          <a:xfrm>
            <a:off x="10666034" y="37262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CC70D6A-1AC3-0681-FA5A-96952A728D2A}"/>
              </a:ext>
            </a:extLst>
          </p:cNvPr>
          <p:cNvSpPr txBox="1"/>
          <p:nvPr/>
        </p:nvSpPr>
        <p:spPr>
          <a:xfrm>
            <a:off x="10727589" y="39040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调拨管理</a:t>
            </a: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7ECAF693-D0B5-5769-B43D-E4D68D3E10C1}"/>
              </a:ext>
            </a:extLst>
          </p:cNvPr>
          <p:cNvSpPr/>
          <p:nvPr/>
        </p:nvSpPr>
        <p:spPr>
          <a:xfrm>
            <a:off x="11269686" y="37262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96ED23B9-E274-CCA3-98FD-46CCFF7756BF}"/>
              </a:ext>
            </a:extLst>
          </p:cNvPr>
          <p:cNvSpPr txBox="1"/>
          <p:nvPr/>
        </p:nvSpPr>
        <p:spPr>
          <a:xfrm>
            <a:off x="11331241" y="39040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参数设置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2A76C7E8-683A-3EDA-90D5-CA45A9C7BF92}"/>
              </a:ext>
            </a:extLst>
          </p:cNvPr>
          <p:cNvSpPr/>
          <p:nvPr/>
        </p:nvSpPr>
        <p:spPr>
          <a:xfrm>
            <a:off x="11856952" y="37262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FD7AA9BC-A557-D03B-FBC1-54901DD1B7DF}"/>
              </a:ext>
            </a:extLst>
          </p:cNvPr>
          <p:cNvSpPr txBox="1"/>
          <p:nvPr/>
        </p:nvSpPr>
        <p:spPr>
          <a:xfrm>
            <a:off x="11918507" y="39040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策略管理</a:t>
            </a:r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3E13F189-0241-5AB4-3403-4944B89282FE}"/>
              </a:ext>
            </a:extLst>
          </p:cNvPr>
          <p:cNvSpPr/>
          <p:nvPr/>
        </p:nvSpPr>
        <p:spPr>
          <a:xfrm>
            <a:off x="12436019" y="3726273"/>
            <a:ext cx="516582" cy="16809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A660CE0A-9DAC-6FB1-361E-3F15F61819A8}"/>
              </a:ext>
            </a:extLst>
          </p:cNvPr>
          <p:cNvSpPr txBox="1"/>
          <p:nvPr/>
        </p:nvSpPr>
        <p:spPr>
          <a:xfrm>
            <a:off x="12497574" y="3904073"/>
            <a:ext cx="400110" cy="138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审批管理</a:t>
            </a: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B327AF17-DED8-1208-5049-E8CA6AFC0EF5}"/>
              </a:ext>
            </a:extLst>
          </p:cNvPr>
          <p:cNvSpPr/>
          <p:nvPr/>
        </p:nvSpPr>
        <p:spPr>
          <a:xfrm>
            <a:off x="1784438" y="3726273"/>
            <a:ext cx="516582" cy="79089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F255048A-CCA7-1066-9C16-121A09E39604}"/>
              </a:ext>
            </a:extLst>
          </p:cNvPr>
          <p:cNvSpPr txBox="1"/>
          <p:nvPr/>
        </p:nvSpPr>
        <p:spPr>
          <a:xfrm>
            <a:off x="1845993" y="3904073"/>
            <a:ext cx="400110" cy="589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盘点</a:t>
            </a: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742D03B8-013B-CE82-C1B3-DAEC1FFF1E23}"/>
              </a:ext>
            </a:extLst>
          </p:cNvPr>
          <p:cNvSpPr/>
          <p:nvPr/>
        </p:nvSpPr>
        <p:spPr>
          <a:xfrm>
            <a:off x="1197193" y="3726273"/>
            <a:ext cx="516582" cy="79089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D3E901B6-002A-05F0-DB97-E517562B55C8}"/>
              </a:ext>
            </a:extLst>
          </p:cNvPr>
          <p:cNvSpPr txBox="1"/>
          <p:nvPr/>
        </p:nvSpPr>
        <p:spPr>
          <a:xfrm>
            <a:off x="1258748" y="3904073"/>
            <a:ext cx="400110" cy="589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销售</a:t>
            </a: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A9E68F25-02EA-1D64-8AF4-4BDF392622EC}"/>
              </a:ext>
            </a:extLst>
          </p:cNvPr>
          <p:cNvSpPr/>
          <p:nvPr/>
        </p:nvSpPr>
        <p:spPr>
          <a:xfrm>
            <a:off x="1190886" y="4584775"/>
            <a:ext cx="516582" cy="831903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4710522B-C972-0D5C-EC23-833A8998F89D}"/>
              </a:ext>
            </a:extLst>
          </p:cNvPr>
          <p:cNvSpPr txBox="1"/>
          <p:nvPr/>
        </p:nvSpPr>
        <p:spPr>
          <a:xfrm>
            <a:off x="1252441" y="4704444"/>
            <a:ext cx="400110" cy="589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调拨</a:t>
            </a: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CE812968-655B-9D78-E685-22590B01C97E}"/>
              </a:ext>
            </a:extLst>
          </p:cNvPr>
          <p:cNvSpPr/>
          <p:nvPr/>
        </p:nvSpPr>
        <p:spPr>
          <a:xfrm>
            <a:off x="1781592" y="4566865"/>
            <a:ext cx="516582" cy="849813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9ED8A2C5-D711-03F8-6BB9-E5CFAC6F0CFF}"/>
              </a:ext>
            </a:extLst>
          </p:cNvPr>
          <p:cNvSpPr txBox="1"/>
          <p:nvPr/>
        </p:nvSpPr>
        <p:spPr>
          <a:xfrm>
            <a:off x="1843147" y="4704444"/>
            <a:ext cx="400110" cy="589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发券</a:t>
            </a: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BB485DB3-0889-3463-3917-01082DAB46FB}"/>
              </a:ext>
            </a:extLst>
          </p:cNvPr>
          <p:cNvSpPr/>
          <p:nvPr/>
        </p:nvSpPr>
        <p:spPr>
          <a:xfrm>
            <a:off x="597071" y="3726273"/>
            <a:ext cx="516582" cy="79089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7624D2F8-AF25-FCEE-2689-E982E3237FB3}"/>
              </a:ext>
            </a:extLst>
          </p:cNvPr>
          <p:cNvSpPr txBox="1"/>
          <p:nvPr/>
        </p:nvSpPr>
        <p:spPr>
          <a:xfrm>
            <a:off x="658626" y="3904073"/>
            <a:ext cx="400110" cy="589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登录</a:t>
            </a:r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F9307385-50E7-77FD-84E9-EEE4A233A314}"/>
              </a:ext>
            </a:extLst>
          </p:cNvPr>
          <p:cNvSpPr/>
          <p:nvPr/>
        </p:nvSpPr>
        <p:spPr>
          <a:xfrm>
            <a:off x="-3051" y="3726273"/>
            <a:ext cx="516582" cy="79089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33359D0A-51C6-12BB-0C54-310FB78FC103}"/>
              </a:ext>
            </a:extLst>
          </p:cNvPr>
          <p:cNvSpPr txBox="1"/>
          <p:nvPr/>
        </p:nvSpPr>
        <p:spPr>
          <a:xfrm>
            <a:off x="58504" y="3904073"/>
            <a:ext cx="400110" cy="589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主页</a:t>
            </a: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36FB60DB-3F0D-69FA-9E3E-545F6E385F2F}"/>
              </a:ext>
            </a:extLst>
          </p:cNvPr>
          <p:cNvSpPr/>
          <p:nvPr/>
        </p:nvSpPr>
        <p:spPr>
          <a:xfrm>
            <a:off x="-506" y="4584775"/>
            <a:ext cx="1108051" cy="822462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4472C4"/>
              </a:solidFill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51E98501-AF6F-08C0-BF60-1188EB0204DA}"/>
              </a:ext>
            </a:extLst>
          </p:cNvPr>
          <p:cNvSpPr txBox="1"/>
          <p:nvPr/>
        </p:nvSpPr>
        <p:spPr>
          <a:xfrm>
            <a:off x="185648" y="4827125"/>
            <a:ext cx="720212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rtlCol="0">
            <a:spAutoFit/>
          </a:bodyPr>
          <a:lstStyle/>
          <a:p>
            <a:r>
              <a:rPr lang="zh-CN" altLang="en-US" sz="1400" dirty="0">
                <a:solidFill>
                  <a:srgbClr val="4472C4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系统栏</a:t>
            </a:r>
          </a:p>
        </p:txBody>
      </p:sp>
    </p:spTree>
    <p:extLst>
      <p:ext uri="{BB962C8B-B14F-4D97-AF65-F5344CB8AC3E}">
        <p14:creationId xmlns:p14="http://schemas.microsoft.com/office/powerpoint/2010/main" val="14144547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984b843d-3c31-40f4-948b-9ebb84b7b52a"/>
  <p:tag name="COMMONDATA" val="eyJoZGlkIjoiN2U2Y2I2YTRiMjExNTQ2ZTQ1MDdiYTQ2NjFmYmYxMGMifQ==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D374A"/>
      </a:accent1>
      <a:accent2>
        <a:srgbClr val="6A868F"/>
      </a:accent2>
      <a:accent3>
        <a:srgbClr val="31778E"/>
      </a:accent3>
      <a:accent4>
        <a:srgbClr val="D6C88B"/>
      </a:accent4>
      <a:accent5>
        <a:srgbClr val="D66E49"/>
      </a:accent5>
      <a:accent6>
        <a:srgbClr val="649EB2"/>
      </a:accent6>
      <a:hlink>
        <a:srgbClr val="BD374A"/>
      </a:hlink>
      <a:folHlink>
        <a:srgbClr val="BFBFBF"/>
      </a:folHlink>
    </a:clrScheme>
    <a:fontScheme name="2sdfqdbi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kumimoji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9196</TotalTime>
  <Words>375</Words>
  <Application>Microsoft Office PowerPoint</Application>
  <PresentationFormat>宽屏</PresentationFormat>
  <Paragraphs>177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Graphik</vt:lpstr>
      <vt:lpstr>SF Pro SC</vt:lpstr>
      <vt:lpstr>阿里巴巴普惠体 B</vt:lpstr>
      <vt:lpstr>阿里巴巴普惠体 R</vt:lpstr>
      <vt:lpstr>等线</vt:lpstr>
      <vt:lpstr>微软雅黑</vt:lpstr>
      <vt:lpstr>Arial</vt:lpstr>
      <vt:lpstr>Calibri</vt:lpstr>
      <vt:lpstr>Office 主题​​</vt:lpstr>
      <vt:lpstr>1_自定义设计方案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橙色渐变风产品发布PPT模板</dc:title>
  <dc:subject/>
  <dc:creator>Microsoft Office User</dc:creator>
  <cp:keywords/>
  <dc:description/>
  <cp:lastModifiedBy>HelloWorld</cp:lastModifiedBy>
  <cp:revision>5105</cp:revision>
  <dcterms:created xsi:type="dcterms:W3CDTF">2020-10-27T10:59:00Z</dcterms:created>
  <dcterms:modified xsi:type="dcterms:W3CDTF">2024-03-18T07:06:02Z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2052-11.1.0.12155</vt:lpwstr>
  </property>
  <property fmtid="{D5CDD505-2E9C-101B-9397-08002B2CF9AE}" pid="3" name="KSORubyTemplateID">
    <vt:lpwstr>13</vt:lpwstr>
  </property>
  <property fmtid="{D5CDD505-2E9C-101B-9397-08002B2CF9AE}" pid="4" name="ICV">
    <vt:lpwstr>874FD0F6B2684153A3408AC54AD5422B</vt:lpwstr>
  </property>
</Properties>
</file>